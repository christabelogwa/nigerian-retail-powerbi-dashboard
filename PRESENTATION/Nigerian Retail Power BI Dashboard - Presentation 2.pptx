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Net Sales</c:v>
                </c:pt>
              </c:strCache>
            </c:strRef>
          </c:tx>
          <c:spPr>
            <a:solidFill>
              <a:srgbClr val="8B7FD6"/>
            </a:solidFill>
            <a:effectLst/>
          </c:spPr>
          <c:invertIfNegative val="0"/>
          <c:dLbls>
            <c:numFmt formatCode="#,##0,,&quot;M&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Store_03</c:v>
                  </c:pt>
                  <c:pt idx="1">
                    <c:v>Store_02</c:v>
                  </c:pt>
                  <c:pt idx="2">
                    <c:v>Store_01</c:v>
                  </c:pt>
                  <c:pt idx="3">
                    <c:v>Store_04</c:v>
                  </c:pt>
                </c:lvl>
              </c:multiLvlStrCache>
            </c:multiLvlStrRef>
          </c:cat>
          <c:val>
            <c:numRef>
              <c:f>Sheet1!$B$2:$B$5</c:f>
              <c:numCache>
                <c:formatCode>General</c:formatCode>
                <c:ptCount val="4"/>
                <c:pt idx="0">
                  <c:v>185780684</c:v>
                </c:pt>
                <c:pt idx="1">
                  <c:v>249150961</c:v>
                </c:pt>
                <c:pt idx="2">
                  <c:v>364571438</c:v>
                </c:pt>
                <c:pt idx="3">
                  <c:v>460023997</c:v>
                </c:pt>
              </c:numCache>
            </c:numRef>
          </c:val>
        </c:ser>
        <c:dLbls>
          <c:numFmt formatCode="#,##0,,&quot;M&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1DEF2"/>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Margin %</c:v>
                </c:pt>
              </c:strCache>
            </c:strRef>
          </c:tx>
          <c:spPr>
            <a:solidFill>
              <a:srgbClr val="E0A93E"/>
            </a:solidFill>
            <a:effectLst/>
          </c:spPr>
          <c:invertIfNegative val="0"/>
          <c:dLbls>
            <c:numFmt formatCode="0.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Store_03</c:v>
                  </c:pt>
                  <c:pt idx="1">
                    <c:v>Store_02</c:v>
                  </c:pt>
                  <c:pt idx="2">
                    <c:v>Store_01</c:v>
                  </c:pt>
                  <c:pt idx="3">
                    <c:v>Store_04</c:v>
                  </c:pt>
                </c:lvl>
              </c:multiLvlStrCache>
            </c:multiLvlStrRef>
          </c:cat>
          <c:val>
            <c:numRef>
              <c:f>Sheet1!$B$2:$B$5</c:f>
              <c:numCache>
                <c:formatCode>General</c:formatCode>
                <c:ptCount val="4"/>
                <c:pt idx="0">
                  <c:v>26.7</c:v>
                </c:pt>
                <c:pt idx="1">
                  <c:v>34.2</c:v>
                </c:pt>
                <c:pt idx="2">
                  <c:v>33.8</c:v>
                </c:pt>
                <c:pt idx="3">
                  <c:v>35.2</c:v>
                </c:pt>
              </c:numCache>
            </c:numRef>
          </c:val>
        </c:ser>
        <c:dLbls>
          <c:numFmt formatCode="0.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D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Stock Cost Value</c:v>
                </c:pt>
              </c:strCache>
            </c:strRef>
          </c:tx>
          <c:spPr>
            <a:solidFill>
              <a:srgbClr val="8B7F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Water</c:v>
                  </c:pt>
                  <c:pt idx="1">
                    <c:v>Whisky</c:v>
                  </c:pt>
                  <c:pt idx="2">
                    <c:v>Yoghurt</c:v>
                  </c:pt>
                  <c:pt idx="3">
                    <c:v>Stationery</c:v>
                  </c:pt>
                  <c:pt idx="4">
                    <c:v>Toys</c:v>
                  </c:pt>
                  <c:pt idx="5">
                    <c:v>Vegetable Oil</c:v>
                  </c:pt>
                  <c:pt idx="6">
                    <c:v>Wears</c:v>
                  </c:pt>
                  <c:pt idx="7">
                    <c:v>Tobacco</c:v>
                  </c:pt>
                  <c:pt idx="8">
                    <c:v>Toiletries</c:v>
                  </c:pt>
                </c:lvl>
              </c:multiLvlStrCache>
            </c:multiLvlStrRef>
          </c:cat>
          <c:val>
            <c:numRef>
              <c:f>Sheet1!$B$2:$B$10</c:f>
              <c:numCache>
                <c:formatCode>General</c:formatCode>
                <c:ptCount val="9"/>
                <c:pt idx="0">
                  <c:v>2000000</c:v>
                </c:pt>
                <c:pt idx="1">
                  <c:v>3500000</c:v>
                </c:pt>
                <c:pt idx="2">
                  <c:v>4200000</c:v>
                </c:pt>
                <c:pt idx="3">
                  <c:v>5100000</c:v>
                </c:pt>
                <c:pt idx="4">
                  <c:v>6300000</c:v>
                </c:pt>
                <c:pt idx="5">
                  <c:v>7800000</c:v>
                </c:pt>
                <c:pt idx="6">
                  <c:v>12500000</c:v>
                </c:pt>
                <c:pt idx="7">
                  <c:v>58000000</c:v>
                </c:pt>
                <c:pt idx="8">
                  <c:v>178000000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1DEF2"/>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Stock Value</c:v>
                </c:pt>
              </c:strCache>
            </c:strRef>
          </c:tx>
          <c:spPr>
            <a:solidFill>
              <a:srgbClr val="E0A93E"/>
            </a:solidFill>
            <a:effectLst/>
          </c:spPr>
          <c:invertIfNegative val="0"/>
          <c:dLbls>
            <c:numFmt formatCode="#,##0,,&quot;M&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Store_02</c:v>
                  </c:pt>
                  <c:pt idx="1">
                    <c:v>Store_01</c:v>
                  </c:pt>
                  <c:pt idx="2">
                    <c:v>Store_03</c:v>
                  </c:pt>
                  <c:pt idx="3">
                    <c:v>Store_04</c:v>
                  </c:pt>
                </c:lvl>
              </c:multiLvlStrCache>
            </c:multiLvlStrRef>
          </c:cat>
          <c:val>
            <c:numRef>
              <c:f>Sheet1!$B$2:$B$5</c:f>
              <c:numCache>
                <c:formatCode>General</c:formatCode>
                <c:ptCount val="4"/>
                <c:pt idx="0">
                  <c:v>95000000</c:v>
                </c:pt>
                <c:pt idx="1">
                  <c:v>260000000</c:v>
                </c:pt>
                <c:pt idx="2">
                  <c:v>430000000</c:v>
                </c:pt>
                <c:pt idx="3">
                  <c:v>1010000000</c:v>
                </c:pt>
              </c:numCache>
            </c:numRef>
          </c:val>
        </c:ser>
        <c:dLbls>
          <c:numFmt formatCode="#,##0,,&quot;M&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DEF2"/>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Payment Mode</c:v>
                </c:pt>
              </c:strCache>
            </c:strRef>
          </c:tx>
          <c:spPr>
            <a:solidFill>
              <a:schemeClr val="accent1"/>
            </a:solidFill>
            <a:ln w="9525" cap="flat">
              <a:solidFill>
                <a:srgbClr val="F9F9F9"/>
              </a:solidFill>
              <a:prstDash val="solid"/>
              <a:round/>
            </a:ln>
            <a:effectLst/>
          </c:spPr>
          <c:dPt>
            <c:idx val="0"/>
            <c:bubble3D val="0"/>
            <c:spPr>
              <a:solidFill>
                <a:srgbClr val="8B7FD6"/>
              </a:solidFill>
              <a:effectLst/>
            </c:spPr>
          </c:dPt>
          <c:dPt>
            <c:idx val="1"/>
            <c:bubble3D val="0"/>
            <c:spPr>
              <a:solidFill>
                <a:srgbClr val="E0A93E"/>
              </a:solidFill>
              <a:effectLst/>
            </c:spPr>
          </c:dPt>
          <c:dLbls>
            <c:dLbl>
              <c:idx val="0"/>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0.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Bank Transfer</c:v>
                </c:pt>
                <c:pt idx="1">
                  <c:v>Cash</c:v>
                </c:pt>
              </c:strCache>
            </c:strRef>
          </c:cat>
          <c:val>
            <c:numRef>
              <c:f>Sheet1!$B$2:$B$3</c:f>
              <c:numCache>
                <c:ptCount val="2"/>
                <c:pt idx="0">
                  <c:v>89.8</c:v>
                </c:pt>
                <c:pt idx="1">
                  <c:v>10.2</c:v>
                </c:pt>
              </c:numCache>
            </c:numRef>
          </c:val>
        </c:ser>
        <c:firstSliceAng val="0"/>
        <c:holeSize val="55"/>
      </c:doughnutChart>
      <c:spPr>
        <a:noFill/>
        <a:ln>
          <a:noFill/>
        </a:ln>
        <a:effectLst/>
      </c:spPr>
    </c:plotArea>
    <c:legend>
      <c:legendPos val="b"/>
      <c:overlay val="0"/>
      <c:txPr>
        <a:bodyPr/>
        <a:lstStyle/>
        <a:p>
          <a:pPr>
            <a:defRPr sz="1000">
              <a:solidFill>
                <a:srgbClr val="5B5470"/>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Amount Received</c:v>
                </c:pt>
              </c:strCache>
            </c:strRef>
          </c:tx>
          <c:spPr>
            <a:solidFill>
              <a:srgbClr val="8B7FD6"/>
            </a:solidFill>
            <a:ln w="31750" cap="flat">
              <a:solidFill>
                <a:srgbClr val="8B7F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B7FD6"/>
              </a:solidFill>
              <a:ln w="9525" cap="flat">
                <a:solidFill>
                  <a:srgbClr val="8B7FD6"/>
                </a:solidFill>
                <a:prstDash val="solid"/>
                <a:round/>
              </a:ln>
              <a:effectLst/>
            </c:spPr>
          </c:marker>
          <c:cat>
            <c:multiLvlStrRef>
              <c:f>Sheet1!$A$2:$A$9</c:f>
              <c:multiLvlStrCache>
                <c:ptCount val="8"/>
                <c:lvl>
                  <c:pt idx="0">
                    <c:v>Jan</c:v>
                  </c:pt>
                  <c:pt idx="1">
                    <c:v>Feb</c:v>
                  </c:pt>
                  <c:pt idx="2">
                    <c:v>Mar</c:v>
                  </c:pt>
                  <c:pt idx="3">
                    <c:v>Apr</c:v>
                  </c:pt>
                  <c:pt idx="4">
                    <c:v>May</c:v>
                  </c:pt>
                  <c:pt idx="5">
                    <c:v>Jun</c:v>
                  </c:pt>
                  <c:pt idx="6">
                    <c:v>Jul</c:v>
                  </c:pt>
                  <c:pt idx="7">
                    <c:v>Aug</c:v>
                  </c:pt>
                </c:lvl>
              </c:multiLvlStrCache>
            </c:multiLvlStrRef>
          </c:cat>
          <c:val>
            <c:numRef>
              <c:f>Sheet1!$B$2:$B$9</c:f>
              <c:numCache>
                <c:formatCode>General</c:formatCode>
                <c:ptCount val="8"/>
                <c:pt idx="0">
                  <c:v>0.58</c:v>
                </c:pt>
                <c:pt idx="1">
                  <c:v>0.55</c:v>
                </c:pt>
                <c:pt idx="2">
                  <c:v>0.53</c:v>
                </c:pt>
                <c:pt idx="3">
                  <c:v>0.5</c:v>
                </c:pt>
                <c:pt idx="4">
                  <c:v>0.5</c:v>
                </c:pt>
                <c:pt idx="5">
                  <c:v>0.52</c:v>
                </c:pt>
                <c:pt idx="6">
                  <c:v>0.54</c:v>
                </c:pt>
                <c:pt idx="7">
                  <c:v>0.22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DEF2"/>
              </a:solidFill>
              <a:prstDash val="solid"/>
              <a:round/>
            </a:ln>
          </c:spPr>
        </c:majorGridlines>
        <c:numFmt formatCode="0.0&quot;bn&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Outstanding Balance</c:v>
                </c:pt>
              </c:strCache>
            </c:strRef>
          </c:tx>
          <c:spPr>
            <a:solidFill>
              <a:srgbClr val="8B7F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VEN_7F44F1626A1D</c:v>
                  </c:pt>
                  <c:pt idx="1">
                    <c:v>VEN_0AA3CDB04E93</c:v>
                  </c:pt>
                  <c:pt idx="2">
                    <c:v>VEN_634479F96B54</c:v>
                  </c:pt>
                  <c:pt idx="3">
                    <c:v>VEN_1388519D6EDE</c:v>
                  </c:pt>
                  <c:pt idx="4">
                    <c:v>VEN_9320FB4170E7</c:v>
                  </c:pt>
                  <c:pt idx="5">
                    <c:v>VEN_E3E5E567C81D</c:v>
                  </c:pt>
                  <c:pt idx="6">
                    <c:v>VEN_F15A2A998990</c:v>
                  </c:pt>
                  <c:pt idx="7">
                    <c:v>VEN_252CA67C2341</c:v>
                  </c:pt>
                  <c:pt idx="8">
                    <c:v>VEN_C17A4E444851</c:v>
                  </c:pt>
                </c:lvl>
              </c:multiLvlStrCache>
            </c:multiLvlStrRef>
          </c:cat>
          <c:val>
            <c:numRef>
              <c:f>Sheet1!$B$2:$B$10</c:f>
              <c:numCache>
                <c:formatCode>General</c:formatCode>
                <c:ptCount val="9"/>
                <c:pt idx="0">
                  <c:v>4500000</c:v>
                </c:pt>
                <c:pt idx="1">
                  <c:v>5700000</c:v>
                </c:pt>
                <c:pt idx="2">
                  <c:v>8000000</c:v>
                </c:pt>
                <c:pt idx="3">
                  <c:v>8200000</c:v>
                </c:pt>
                <c:pt idx="4">
                  <c:v>11500000</c:v>
                </c:pt>
                <c:pt idx="5">
                  <c:v>15500000</c:v>
                </c:pt>
                <c:pt idx="6">
                  <c:v>19500000</c:v>
                </c:pt>
                <c:pt idx="7">
                  <c:v>24500000</c:v>
                </c:pt>
                <c:pt idx="8">
                  <c:v>29500000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1DEF2"/>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Bill Total</c:v>
                </c:pt>
              </c:strCache>
            </c:strRef>
          </c:tx>
          <c:spPr>
            <a:solidFill>
              <a:srgbClr val="E0A93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overdue</c:v>
                  </c:pt>
                  <c:pt idx="1">
                    <c:v>void</c:v>
                  </c:pt>
                  <c:pt idx="2">
                    <c:v>draft</c:v>
                  </c:pt>
                  <c:pt idx="3">
                    <c:v>rejected</c:v>
                  </c:pt>
                  <c:pt idx="4">
                    <c:v>pending_approval</c:v>
                  </c:pt>
                  <c:pt idx="5">
                    <c:v>paid</c:v>
                  </c:pt>
                </c:lvl>
              </c:multiLvlStrCache>
            </c:multiLvlStrRef>
          </c:cat>
          <c:val>
            <c:numRef>
              <c:f>Sheet1!$B$2:$B$7</c:f>
              <c:numCache>
                <c:formatCode>General</c:formatCode>
                <c:ptCount val="6"/>
                <c:pt idx="0">
                  <c:v>10000000</c:v>
                </c:pt>
                <c:pt idx="1">
                  <c:v>15000000</c:v>
                </c:pt>
                <c:pt idx="2">
                  <c:v>20000000</c:v>
                </c:pt>
                <c:pt idx="3">
                  <c:v>60000000</c:v>
                </c:pt>
                <c:pt idx="4">
                  <c:v>550000000</c:v>
                </c:pt>
                <c:pt idx="5">
                  <c:v>2050000000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B547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1DEF2"/>
              </a:solidFill>
              <a:prstDash val="solid"/>
              <a:round/>
            </a:ln>
          </c:spPr>
        </c:majorGridlines>
        <c:numFmt formatCode="#,##0,,&quot;bn&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B5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B3D"/>
        </a:solidFill>
      </p:bgPr>
    </p:bg>
    <p:spTree>
      <p:nvGrpSpPr>
        <p:cNvPr id="1" name=""/>
        <p:cNvGrpSpPr/>
        <p:nvPr/>
      </p:nvGrpSpPr>
      <p:grpSpPr>
        <a:xfrm>
          <a:off x="0" y="0"/>
          <a:ext cx="0" cy="0"/>
          <a:chOff x="0" y="0"/>
          <a:chExt cx="0" cy="0"/>
        </a:xfrm>
      </p:grpSpPr>
      <p:sp>
        <p:nvSpPr>
          <p:cNvPr id="2" name="Shape 0"/>
          <p:cNvSpPr/>
          <p:nvPr/>
        </p:nvSpPr>
        <p:spPr>
          <a:xfrm>
            <a:off x="7452360" y="2880360"/>
            <a:ext cx="4206240" cy="256032"/>
          </a:xfrm>
          <a:prstGeom prst="rect">
            <a:avLst/>
          </a:prstGeom>
          <a:solidFill>
            <a:srgbClr val="8B7FD6"/>
          </a:solidFill>
          <a:ln/>
        </p:spPr>
      </p:sp>
      <p:sp>
        <p:nvSpPr>
          <p:cNvPr id="3" name="Shape 1"/>
          <p:cNvSpPr/>
          <p:nvPr/>
        </p:nvSpPr>
        <p:spPr>
          <a:xfrm>
            <a:off x="7452360" y="3246120"/>
            <a:ext cx="3383280" cy="256032"/>
          </a:xfrm>
          <a:prstGeom prst="rect">
            <a:avLst/>
          </a:prstGeom>
          <a:solidFill>
            <a:srgbClr val="8B7FD6"/>
          </a:solidFill>
          <a:ln/>
        </p:spPr>
      </p:sp>
      <p:sp>
        <p:nvSpPr>
          <p:cNvPr id="4" name="Shape 2"/>
          <p:cNvSpPr/>
          <p:nvPr/>
        </p:nvSpPr>
        <p:spPr>
          <a:xfrm>
            <a:off x="7452360" y="3611880"/>
            <a:ext cx="2377440" cy="256032"/>
          </a:xfrm>
          <a:prstGeom prst="rect">
            <a:avLst/>
          </a:prstGeom>
          <a:solidFill>
            <a:srgbClr val="8B7FD6"/>
          </a:solidFill>
          <a:ln/>
        </p:spPr>
      </p:sp>
      <p:sp>
        <p:nvSpPr>
          <p:cNvPr id="5" name="Shape 3"/>
          <p:cNvSpPr/>
          <p:nvPr/>
        </p:nvSpPr>
        <p:spPr>
          <a:xfrm>
            <a:off x="7452360" y="3977640"/>
            <a:ext cx="1737360" cy="256032"/>
          </a:xfrm>
          <a:prstGeom prst="rect">
            <a:avLst/>
          </a:prstGeom>
          <a:solidFill>
            <a:srgbClr val="8B7FD6"/>
          </a:solidFill>
          <a:ln/>
        </p:spPr>
      </p:sp>
      <p:sp>
        <p:nvSpPr>
          <p:cNvPr id="6" name="Text 4"/>
          <p:cNvSpPr/>
          <p:nvPr/>
        </p:nvSpPr>
        <p:spPr>
          <a:xfrm>
            <a:off x="731520" y="1417320"/>
            <a:ext cx="5486400" cy="365760"/>
          </a:xfrm>
          <a:prstGeom prst="rect">
            <a:avLst/>
          </a:prstGeom>
          <a:noFill/>
          <a:ln/>
        </p:spPr>
        <p:txBody>
          <a:bodyPr wrap="square" rtlCol="0" anchor="ctr"/>
          <a:lstStyle/>
          <a:p>
            <a:pPr indent="0" marL="0">
              <a:buNone/>
            </a:pPr>
            <a:r>
              <a:rPr lang="en-US" sz="1300" b="1" spc="300" kern="0" dirty="0">
                <a:solidFill>
                  <a:srgbClr val="8B7FD6"/>
                </a:solidFill>
                <a:latin typeface="Calibri" pitchFamily="34" charset="0"/>
                <a:ea typeface="Calibri" pitchFamily="34" charset="-122"/>
                <a:cs typeface="Calibri" pitchFamily="34" charset="-120"/>
              </a:rPr>
              <a:t>PORTFOLIO PROJECT</a:t>
            </a:r>
            <a:endParaRPr lang="en-US" sz="1300" dirty="0"/>
          </a:p>
        </p:txBody>
      </p:sp>
      <p:sp>
        <p:nvSpPr>
          <p:cNvPr id="7" name="Text 5"/>
          <p:cNvSpPr/>
          <p:nvPr/>
        </p:nvSpPr>
        <p:spPr>
          <a:xfrm>
            <a:off x="731520" y="1828800"/>
            <a:ext cx="8046720" cy="1920240"/>
          </a:xfrm>
          <a:prstGeom prst="rect">
            <a:avLst/>
          </a:prstGeom>
          <a:noFill/>
          <a:ln/>
        </p:spPr>
        <p:txBody>
          <a:bodyPr wrap="square" rtlCol="0" anchor="ctr"/>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Nigerian Multi-Branch Retail</a:t>
            </a:r>
            <a:endParaRPr lang="en-US" sz="3800" dirty="0"/>
          </a:p>
          <a:p>
            <a:pPr indent="0" marL="0">
              <a:buNone/>
            </a:pPr>
            <a:r>
              <a:rPr lang="en-US" sz="3800" b="1" dirty="0">
                <a:solidFill>
                  <a:srgbClr val="FFFFFF"/>
                </a:solidFill>
                <a:latin typeface="Century Gothic" pitchFamily="34" charset="0"/>
                <a:ea typeface="Century Gothic" pitchFamily="34" charset="-122"/>
                <a:cs typeface="Century Gothic" pitchFamily="34" charset="-120"/>
              </a:rPr>
              <a:t>Power BI Dashboard</a:t>
            </a:r>
            <a:endParaRPr lang="en-US" sz="3800" dirty="0"/>
          </a:p>
        </p:txBody>
      </p:sp>
      <p:sp>
        <p:nvSpPr>
          <p:cNvPr id="8" name="Text 6"/>
          <p:cNvSpPr/>
          <p:nvPr/>
        </p:nvSpPr>
        <p:spPr>
          <a:xfrm>
            <a:off x="731520" y="3886200"/>
            <a:ext cx="6309360" cy="1097280"/>
          </a:xfrm>
          <a:prstGeom prst="rect">
            <a:avLst/>
          </a:prstGeom>
          <a:noFill/>
          <a:ln/>
        </p:spPr>
        <p:txBody>
          <a:bodyPr wrap="square" rtlCol="0" anchor="ctr"/>
          <a:lstStyle/>
          <a:p>
            <a:pPr indent="0" marL="0">
              <a:buNone/>
            </a:pPr>
            <a:r>
              <a:rPr lang="en-US" sz="1350" dirty="0">
                <a:solidFill>
                  <a:srgbClr val="C9C3EA"/>
                </a:solidFill>
                <a:latin typeface="Calibri" pitchFamily="34" charset="0"/>
                <a:ea typeface="Calibri" pitchFamily="34" charset="-122"/>
                <a:cs typeface="Calibri" pitchFamily="34" charset="-120"/>
              </a:rPr>
              <a:t>An end-to-end business intelligence build covering Sales, Inventory, Accounts Receivable and Accounts Payable — from raw GoFrugal POS and Zoho accounting exports to a four-page executive dashboard.</a:t>
            </a:r>
            <a:endParaRPr lang="en-US" sz="1350" dirty="0"/>
          </a:p>
        </p:txBody>
      </p:sp>
      <p:sp>
        <p:nvSpPr>
          <p:cNvPr id="9" name="Text 7"/>
          <p:cNvSpPr/>
          <p:nvPr/>
        </p:nvSpPr>
        <p:spPr>
          <a:xfrm>
            <a:off x="731520" y="5989320"/>
            <a:ext cx="6400800" cy="365760"/>
          </a:xfrm>
          <a:prstGeom prst="rect">
            <a:avLst/>
          </a:prstGeom>
          <a:noFill/>
          <a:ln/>
        </p:spPr>
        <p:txBody>
          <a:bodyPr wrap="square" rtlCol="0" anchor="ctr"/>
          <a:lstStyle/>
          <a:p>
            <a:pPr indent="0" marL="0">
              <a:buNone/>
            </a:pPr>
            <a:r>
              <a:rPr lang="en-US" sz="1200" dirty="0">
                <a:solidFill>
                  <a:srgbClr val="8A7FC0"/>
                </a:solidFill>
                <a:latin typeface="Calibri" pitchFamily="34" charset="0"/>
                <a:ea typeface="Calibri" pitchFamily="34" charset="-122"/>
                <a:cs typeface="Calibri" pitchFamily="34" charset="-120"/>
              </a:rPr>
              <a:t>Prepared by Ogwa Nkemnasom  |  Data Analyst</a:t>
            </a:r>
            <a:endParaRPr lang="en-US" sz="1200" dirty="0"/>
          </a:p>
        </p:txBody>
      </p:sp>
      <p:sp>
        <p:nvSpPr>
          <p:cNvPr id="10" name="Shape 8"/>
          <p:cNvSpPr/>
          <p:nvPr/>
        </p:nvSpPr>
        <p:spPr>
          <a:xfrm>
            <a:off x="731520" y="5897880"/>
            <a:ext cx="2926080" cy="0"/>
          </a:xfrm>
          <a:prstGeom prst="line">
            <a:avLst/>
          </a:prstGeom>
          <a:noFill/>
          <a:ln w="19050">
            <a:solidFill>
              <a:srgbClr val="8B7FD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Why this dashboard, and what it needed to answer</a:t>
            </a:r>
            <a:endParaRPr lang="en-US" sz="3000" dirty="0"/>
          </a:p>
        </p:txBody>
      </p:sp>
      <p:sp>
        <p:nvSpPr>
          <p:cNvPr id="4" name="Shape 2"/>
          <p:cNvSpPr/>
          <p:nvPr/>
        </p:nvSpPr>
        <p:spPr>
          <a:xfrm>
            <a:off x="548640" y="1600200"/>
            <a:ext cx="5074920" cy="2057400"/>
          </a:xfrm>
          <a:prstGeom prst="roundRect">
            <a:avLst>
              <a:gd name="adj" fmla="val 3556"/>
            </a:avLst>
          </a:prstGeom>
          <a:solidFill>
            <a:srgbClr val="F7F6FC"/>
          </a:solidFill>
          <a:ln w="12700">
            <a:solidFill>
              <a:srgbClr val="E1DEF2"/>
            </a:solidFill>
            <a:prstDash val="solid"/>
          </a:ln>
        </p:spPr>
      </p:sp>
      <p:sp>
        <p:nvSpPr>
          <p:cNvPr id="5" name="Shape 3"/>
          <p:cNvSpPr/>
          <p:nvPr/>
        </p:nvSpPr>
        <p:spPr>
          <a:xfrm>
            <a:off x="548640" y="1600200"/>
            <a:ext cx="64008" cy="2057400"/>
          </a:xfrm>
          <a:prstGeom prst="rect">
            <a:avLst/>
          </a:prstGeom>
          <a:solidFill>
            <a:srgbClr val="8B7FD6"/>
          </a:solidFill>
          <a:ln/>
        </p:spPr>
      </p:sp>
      <p:sp>
        <p:nvSpPr>
          <p:cNvPr id="6" name="Text 4"/>
          <p:cNvSpPr/>
          <p:nvPr/>
        </p:nvSpPr>
        <p:spPr>
          <a:xfrm>
            <a:off x="822960" y="1764792"/>
            <a:ext cx="4526280" cy="36576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The business problem</a:t>
            </a:r>
            <a:endParaRPr lang="en-US" sz="1450" dirty="0"/>
          </a:p>
        </p:txBody>
      </p:sp>
      <p:sp>
        <p:nvSpPr>
          <p:cNvPr id="7" name="Text 5"/>
          <p:cNvSpPr/>
          <p:nvPr/>
        </p:nvSpPr>
        <p:spPr>
          <a:xfrm>
            <a:off x="822960" y="2148840"/>
            <a:ext cx="4526280" cy="1325880"/>
          </a:xfrm>
          <a:prstGeom prst="rect">
            <a:avLst/>
          </a:prstGeom>
          <a:noFill/>
          <a:ln/>
        </p:spPr>
        <p:txBody>
          <a:bodyPr wrap="square" rtlCol="0" anchor="ctr"/>
          <a:lstStyle/>
          <a:p>
            <a:pPr indent="0" marL="0">
              <a:lnSpc>
                <a:spcPct val="115000"/>
              </a:lnSpc>
              <a:buNone/>
            </a:pPr>
            <a:r>
              <a:rPr lang="en-US" sz="1150" dirty="0">
                <a:solidFill>
                  <a:srgbClr val="5B5470"/>
                </a:solidFill>
                <a:latin typeface="Calibri" pitchFamily="34" charset="0"/>
                <a:ea typeface="Calibri" pitchFamily="34" charset="-122"/>
                <a:cs typeface="Calibri" pitchFamily="34" charset="-120"/>
              </a:rPr>
              <a:t>A multi-branch Nigerian retailer (4 stores) runs sales through GoFrugal POS and tracks accounting in Zoho, but the two systems never talked to each other. Leadership had no single view of revenue, stock health, or cash owed and owing.</a:t>
            </a:r>
            <a:endParaRPr lang="en-US" sz="1150" dirty="0"/>
          </a:p>
        </p:txBody>
      </p:sp>
      <p:sp>
        <p:nvSpPr>
          <p:cNvPr id="8" name="Shape 6"/>
          <p:cNvSpPr/>
          <p:nvPr/>
        </p:nvSpPr>
        <p:spPr>
          <a:xfrm>
            <a:off x="5943600" y="1600200"/>
            <a:ext cx="5074920" cy="2057400"/>
          </a:xfrm>
          <a:prstGeom prst="roundRect">
            <a:avLst>
              <a:gd name="adj" fmla="val 3556"/>
            </a:avLst>
          </a:prstGeom>
          <a:solidFill>
            <a:srgbClr val="F7F6FC"/>
          </a:solidFill>
          <a:ln w="12700">
            <a:solidFill>
              <a:srgbClr val="E1DEF2"/>
            </a:solidFill>
            <a:prstDash val="solid"/>
          </a:ln>
        </p:spPr>
      </p:sp>
      <p:sp>
        <p:nvSpPr>
          <p:cNvPr id="9" name="Shape 7"/>
          <p:cNvSpPr/>
          <p:nvPr/>
        </p:nvSpPr>
        <p:spPr>
          <a:xfrm>
            <a:off x="5943600" y="1600200"/>
            <a:ext cx="64008" cy="2057400"/>
          </a:xfrm>
          <a:prstGeom prst="rect">
            <a:avLst/>
          </a:prstGeom>
          <a:solidFill>
            <a:srgbClr val="8B7FD6"/>
          </a:solidFill>
          <a:ln/>
        </p:spPr>
      </p:sp>
      <p:sp>
        <p:nvSpPr>
          <p:cNvPr id="10" name="Text 8"/>
          <p:cNvSpPr/>
          <p:nvPr/>
        </p:nvSpPr>
        <p:spPr>
          <a:xfrm>
            <a:off x="6217920" y="1764792"/>
            <a:ext cx="4526280" cy="36576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The brief</a:t>
            </a:r>
            <a:endParaRPr lang="en-US" sz="1450" dirty="0"/>
          </a:p>
        </p:txBody>
      </p:sp>
      <p:sp>
        <p:nvSpPr>
          <p:cNvPr id="11" name="Text 9"/>
          <p:cNvSpPr/>
          <p:nvPr/>
        </p:nvSpPr>
        <p:spPr>
          <a:xfrm>
            <a:off x="6217920" y="2148840"/>
            <a:ext cx="4526280" cy="1325880"/>
          </a:xfrm>
          <a:prstGeom prst="rect">
            <a:avLst/>
          </a:prstGeom>
          <a:noFill/>
          <a:ln/>
        </p:spPr>
        <p:txBody>
          <a:bodyPr wrap="square" rtlCol="0" anchor="ctr"/>
          <a:lstStyle/>
          <a:p>
            <a:pPr indent="0" marL="0">
              <a:lnSpc>
                <a:spcPct val="115000"/>
              </a:lnSpc>
              <a:buNone/>
            </a:pPr>
            <a:r>
              <a:rPr lang="en-US" sz="1150" dirty="0">
                <a:solidFill>
                  <a:srgbClr val="5B5470"/>
                </a:solidFill>
                <a:latin typeface="Calibri" pitchFamily="34" charset="0"/>
                <a:ea typeface="Calibri" pitchFamily="34" charset="-122"/>
                <a:cs typeface="Calibri" pitchFamily="34" charset="-120"/>
              </a:rPr>
              <a:t>Build one Power BI workbook that lets management move from a high-level number down to the exact store, product, customer or vendor behind it — without opening either source system.</a:t>
            </a:r>
            <a:endParaRPr lang="en-US" sz="1150" dirty="0"/>
          </a:p>
        </p:txBody>
      </p:sp>
      <p:sp>
        <p:nvSpPr>
          <p:cNvPr id="12" name="Shape 10"/>
          <p:cNvSpPr/>
          <p:nvPr/>
        </p:nvSpPr>
        <p:spPr>
          <a:xfrm>
            <a:off x="548640" y="3931920"/>
            <a:ext cx="5074920" cy="2057400"/>
          </a:xfrm>
          <a:prstGeom prst="roundRect">
            <a:avLst>
              <a:gd name="adj" fmla="val 3556"/>
            </a:avLst>
          </a:prstGeom>
          <a:solidFill>
            <a:srgbClr val="F7F6FC"/>
          </a:solidFill>
          <a:ln w="12700">
            <a:solidFill>
              <a:srgbClr val="E1DEF2"/>
            </a:solidFill>
            <a:prstDash val="solid"/>
          </a:ln>
        </p:spPr>
      </p:sp>
      <p:sp>
        <p:nvSpPr>
          <p:cNvPr id="13" name="Shape 11"/>
          <p:cNvSpPr/>
          <p:nvPr/>
        </p:nvSpPr>
        <p:spPr>
          <a:xfrm>
            <a:off x="548640" y="3931920"/>
            <a:ext cx="64008" cy="2057400"/>
          </a:xfrm>
          <a:prstGeom prst="rect">
            <a:avLst/>
          </a:prstGeom>
          <a:solidFill>
            <a:srgbClr val="8B7FD6"/>
          </a:solidFill>
          <a:ln/>
        </p:spPr>
      </p:sp>
      <p:sp>
        <p:nvSpPr>
          <p:cNvPr id="14" name="Text 12"/>
          <p:cNvSpPr/>
          <p:nvPr/>
        </p:nvSpPr>
        <p:spPr>
          <a:xfrm>
            <a:off x="822960" y="4096512"/>
            <a:ext cx="4526280" cy="36576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The scope</a:t>
            </a:r>
            <a:endParaRPr lang="en-US" sz="1450" dirty="0"/>
          </a:p>
        </p:txBody>
      </p:sp>
      <p:sp>
        <p:nvSpPr>
          <p:cNvPr id="15" name="Text 13"/>
          <p:cNvSpPr/>
          <p:nvPr/>
        </p:nvSpPr>
        <p:spPr>
          <a:xfrm>
            <a:off x="822960" y="4480560"/>
            <a:ext cx="4526280" cy="1325880"/>
          </a:xfrm>
          <a:prstGeom prst="rect">
            <a:avLst/>
          </a:prstGeom>
          <a:noFill/>
          <a:ln/>
        </p:spPr>
        <p:txBody>
          <a:bodyPr wrap="square" rtlCol="0" anchor="ctr"/>
          <a:lstStyle/>
          <a:p>
            <a:pPr indent="0" marL="0">
              <a:lnSpc>
                <a:spcPct val="115000"/>
              </a:lnSpc>
              <a:buNone/>
            </a:pPr>
            <a:r>
              <a:rPr lang="en-US" sz="1150" dirty="0">
                <a:solidFill>
                  <a:srgbClr val="5B5470"/>
                </a:solidFill>
                <a:latin typeface="Calibri" pitchFamily="34" charset="0"/>
                <a:ea typeface="Calibri" pitchFamily="34" charset="-122"/>
                <a:cs typeface="Calibri" pitchFamily="34" charset="-120"/>
              </a:rPr>
              <a:t>Four connected pages: Sales Overview, Inventory Snapshot, Customer &amp; Accounts Receivable, and Vendor &amp; Accounts Payable — sharing one data model and one visual language.</a:t>
            </a:r>
            <a:endParaRPr lang="en-US" sz="1150" dirty="0"/>
          </a:p>
        </p:txBody>
      </p:sp>
      <p:sp>
        <p:nvSpPr>
          <p:cNvPr id="16" name="Shape 14"/>
          <p:cNvSpPr/>
          <p:nvPr/>
        </p:nvSpPr>
        <p:spPr>
          <a:xfrm>
            <a:off x="5943600" y="3931920"/>
            <a:ext cx="5074920" cy="2057400"/>
          </a:xfrm>
          <a:prstGeom prst="roundRect">
            <a:avLst>
              <a:gd name="adj" fmla="val 3556"/>
            </a:avLst>
          </a:prstGeom>
          <a:solidFill>
            <a:srgbClr val="F7F6FC"/>
          </a:solidFill>
          <a:ln w="12700">
            <a:solidFill>
              <a:srgbClr val="E1DEF2"/>
            </a:solidFill>
            <a:prstDash val="solid"/>
          </a:ln>
        </p:spPr>
      </p:sp>
      <p:sp>
        <p:nvSpPr>
          <p:cNvPr id="17" name="Shape 15"/>
          <p:cNvSpPr/>
          <p:nvPr/>
        </p:nvSpPr>
        <p:spPr>
          <a:xfrm>
            <a:off x="5943600" y="3931920"/>
            <a:ext cx="64008" cy="2057400"/>
          </a:xfrm>
          <a:prstGeom prst="rect">
            <a:avLst/>
          </a:prstGeom>
          <a:solidFill>
            <a:srgbClr val="8B7FD6"/>
          </a:solidFill>
          <a:ln/>
        </p:spPr>
      </p:sp>
      <p:sp>
        <p:nvSpPr>
          <p:cNvPr id="18" name="Text 16"/>
          <p:cNvSpPr/>
          <p:nvPr/>
        </p:nvSpPr>
        <p:spPr>
          <a:xfrm>
            <a:off x="6217920" y="4096512"/>
            <a:ext cx="4526280" cy="36576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The outcome</a:t>
            </a:r>
            <a:endParaRPr lang="en-US" sz="1450" dirty="0"/>
          </a:p>
        </p:txBody>
      </p:sp>
      <p:sp>
        <p:nvSpPr>
          <p:cNvPr id="19" name="Text 17"/>
          <p:cNvSpPr/>
          <p:nvPr/>
        </p:nvSpPr>
        <p:spPr>
          <a:xfrm>
            <a:off x="6217920" y="4480560"/>
            <a:ext cx="4526280" cy="1325880"/>
          </a:xfrm>
          <a:prstGeom prst="rect">
            <a:avLst/>
          </a:prstGeom>
          <a:noFill/>
          <a:ln/>
        </p:spPr>
        <p:txBody>
          <a:bodyPr wrap="square" rtlCol="0" anchor="ctr"/>
          <a:lstStyle/>
          <a:p>
            <a:pPr indent="0" marL="0">
              <a:lnSpc>
                <a:spcPct val="115000"/>
              </a:lnSpc>
              <a:buNone/>
            </a:pPr>
            <a:r>
              <a:rPr lang="en-US" sz="1150" dirty="0">
                <a:solidFill>
                  <a:srgbClr val="5B5470"/>
                </a:solidFill>
                <a:latin typeface="Calibri" pitchFamily="34" charset="0"/>
                <a:ea typeface="Calibri" pitchFamily="34" charset="-122"/>
                <a:cs typeface="Calibri" pitchFamily="34" charset="-120"/>
              </a:rPr>
              <a:t>A working dashboard (1.26bn in tracked revenue, 3.96bn in retail stock value, 3.78bn invoiced, 2.70bn billed) plus a set of data-quality findings the business didn't know it had.</a:t>
            </a:r>
            <a:endParaRPr lang="en-US" sz="1150" dirty="0"/>
          </a:p>
        </p:txBody>
      </p:sp>
      <p:sp>
        <p:nvSpPr>
          <p:cNvPr id="20"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From two disconnected exports to one clean model</a:t>
            </a:r>
            <a:endParaRPr lang="en-US" sz="3000" dirty="0"/>
          </a:p>
        </p:txBody>
      </p:sp>
      <p:sp>
        <p:nvSpPr>
          <p:cNvPr id="4" name="Shape 2"/>
          <p:cNvSpPr/>
          <p:nvPr/>
        </p:nvSpPr>
        <p:spPr>
          <a:xfrm>
            <a:off x="548640" y="1508760"/>
            <a:ext cx="3520440" cy="2240280"/>
          </a:xfrm>
          <a:prstGeom prst="roundRect">
            <a:avLst>
              <a:gd name="adj" fmla="val 3265"/>
            </a:avLst>
          </a:prstGeom>
          <a:solidFill>
            <a:srgbClr val="F7F6FC"/>
          </a:solidFill>
          <a:ln w="12700">
            <a:solidFill>
              <a:srgbClr val="E1DEF2"/>
            </a:solidFill>
            <a:prstDash val="solid"/>
          </a:ln>
        </p:spPr>
      </p:sp>
      <p:sp>
        <p:nvSpPr>
          <p:cNvPr id="5" name="Text 3"/>
          <p:cNvSpPr/>
          <p:nvPr/>
        </p:nvSpPr>
        <p:spPr>
          <a:xfrm>
            <a:off x="749808" y="1645920"/>
            <a:ext cx="1097280" cy="457200"/>
          </a:xfrm>
          <a:prstGeom prst="rect">
            <a:avLst/>
          </a:prstGeom>
          <a:noFill/>
          <a:ln/>
        </p:spPr>
        <p:txBody>
          <a:bodyPr wrap="square" rtlCol="0" anchor="ctr"/>
          <a:lstStyle/>
          <a:p>
            <a:pPr indent="0" marL="0">
              <a:buNone/>
            </a:pPr>
            <a:r>
              <a:rPr lang="en-US" sz="2200" b="1" dirty="0">
                <a:solidFill>
                  <a:srgbClr val="8B7FD6"/>
                </a:solidFill>
                <a:latin typeface="Century Gothic" pitchFamily="34" charset="0"/>
                <a:ea typeface="Century Gothic" pitchFamily="34" charset="-122"/>
                <a:cs typeface="Century Gothic" pitchFamily="34" charset="-120"/>
              </a:rPr>
              <a:t>01</a:t>
            </a:r>
            <a:endParaRPr lang="en-US" sz="2200" dirty="0"/>
          </a:p>
        </p:txBody>
      </p:sp>
      <p:sp>
        <p:nvSpPr>
          <p:cNvPr id="6" name="Text 4"/>
          <p:cNvSpPr/>
          <p:nvPr/>
        </p:nvSpPr>
        <p:spPr>
          <a:xfrm>
            <a:off x="749808" y="2075688"/>
            <a:ext cx="3118104" cy="320040"/>
          </a:xfrm>
          <a:prstGeom prst="rect">
            <a:avLst/>
          </a:prstGeom>
          <a:noFill/>
          <a:ln/>
        </p:spPr>
        <p:txBody>
          <a:bodyPr wrap="square" rtlCol="0" anchor="ctr"/>
          <a:lstStyle/>
          <a:p>
            <a:pPr indent="0" marL="0">
              <a:buNone/>
            </a:pPr>
            <a:r>
              <a:rPr lang="en-US" sz="1350" b="1" dirty="0">
                <a:solidFill>
                  <a:srgbClr val="26203D"/>
                </a:solidFill>
                <a:latin typeface="Century Gothic" pitchFamily="34" charset="0"/>
                <a:ea typeface="Century Gothic" pitchFamily="34" charset="-122"/>
                <a:cs typeface="Century Gothic" pitchFamily="34" charset="-120"/>
              </a:rPr>
              <a:t>Source &amp; extract</a:t>
            </a:r>
            <a:endParaRPr lang="en-US" sz="1350" dirty="0"/>
          </a:p>
        </p:txBody>
      </p:sp>
      <p:sp>
        <p:nvSpPr>
          <p:cNvPr id="7" name="Text 5"/>
          <p:cNvSpPr/>
          <p:nvPr/>
        </p:nvSpPr>
        <p:spPr>
          <a:xfrm>
            <a:off x="749808" y="2423160"/>
            <a:ext cx="3118104" cy="1188720"/>
          </a:xfrm>
          <a:prstGeom prst="rect">
            <a:avLst/>
          </a:prstGeom>
          <a:noFill/>
          <a:ln/>
        </p:spPr>
        <p:txBody>
          <a:bodyPr wrap="square" rtlCol="0" anchor="ctr"/>
          <a:lstStyle/>
          <a:p>
            <a:pPr indent="0" marL="0">
              <a:lnSpc>
                <a:spcPct val="112000"/>
              </a:lnSpc>
              <a:buNone/>
            </a:pPr>
            <a:r>
              <a:rPr lang="en-US" sz="1000" dirty="0">
                <a:solidFill>
                  <a:srgbClr val="5B5470"/>
                </a:solidFill>
                <a:latin typeface="Calibri" pitchFamily="34" charset="0"/>
                <a:ea typeface="Calibri" pitchFamily="34" charset="-122"/>
                <a:cs typeface="Calibri" pitchFamily="34" charset="-120"/>
              </a:rPr>
              <a:t>Pulled raw exports: GoFrugal POS (sales transactions, stock/inventory ledger) and Zoho Books (customer invoices &amp; receipts, vendor bills &amp; payments) across all 4 stores.</a:t>
            </a:r>
            <a:endParaRPr lang="en-US" sz="1000" dirty="0"/>
          </a:p>
        </p:txBody>
      </p:sp>
      <p:sp>
        <p:nvSpPr>
          <p:cNvPr id="8" name="Shape 6"/>
          <p:cNvSpPr/>
          <p:nvPr/>
        </p:nvSpPr>
        <p:spPr>
          <a:xfrm>
            <a:off x="4251960" y="1508760"/>
            <a:ext cx="3520440" cy="2240280"/>
          </a:xfrm>
          <a:prstGeom prst="roundRect">
            <a:avLst>
              <a:gd name="adj" fmla="val 3265"/>
            </a:avLst>
          </a:prstGeom>
          <a:solidFill>
            <a:srgbClr val="F7F6FC"/>
          </a:solidFill>
          <a:ln w="12700">
            <a:solidFill>
              <a:srgbClr val="E1DEF2"/>
            </a:solidFill>
            <a:prstDash val="solid"/>
          </a:ln>
        </p:spPr>
      </p:sp>
      <p:sp>
        <p:nvSpPr>
          <p:cNvPr id="9" name="Text 7"/>
          <p:cNvSpPr/>
          <p:nvPr/>
        </p:nvSpPr>
        <p:spPr>
          <a:xfrm>
            <a:off x="4453128" y="1645920"/>
            <a:ext cx="1097280" cy="457200"/>
          </a:xfrm>
          <a:prstGeom prst="rect">
            <a:avLst/>
          </a:prstGeom>
          <a:noFill/>
          <a:ln/>
        </p:spPr>
        <p:txBody>
          <a:bodyPr wrap="square" rtlCol="0" anchor="ctr"/>
          <a:lstStyle/>
          <a:p>
            <a:pPr indent="0" marL="0">
              <a:buNone/>
            </a:pPr>
            <a:r>
              <a:rPr lang="en-US" sz="2200" b="1" dirty="0">
                <a:solidFill>
                  <a:srgbClr val="8B7FD6"/>
                </a:solidFill>
                <a:latin typeface="Century Gothic" pitchFamily="34" charset="0"/>
                <a:ea typeface="Century Gothic" pitchFamily="34" charset="-122"/>
                <a:cs typeface="Century Gothic" pitchFamily="34" charset="-120"/>
              </a:rPr>
              <a:t>02</a:t>
            </a:r>
            <a:endParaRPr lang="en-US" sz="2200" dirty="0"/>
          </a:p>
        </p:txBody>
      </p:sp>
      <p:sp>
        <p:nvSpPr>
          <p:cNvPr id="10" name="Text 8"/>
          <p:cNvSpPr/>
          <p:nvPr/>
        </p:nvSpPr>
        <p:spPr>
          <a:xfrm>
            <a:off x="4453128" y="2075688"/>
            <a:ext cx="3118104" cy="320040"/>
          </a:xfrm>
          <a:prstGeom prst="rect">
            <a:avLst/>
          </a:prstGeom>
          <a:noFill/>
          <a:ln/>
        </p:spPr>
        <p:txBody>
          <a:bodyPr wrap="square" rtlCol="0" anchor="ctr"/>
          <a:lstStyle/>
          <a:p>
            <a:pPr indent="0" marL="0">
              <a:buNone/>
            </a:pPr>
            <a:r>
              <a:rPr lang="en-US" sz="1350" b="1" dirty="0">
                <a:solidFill>
                  <a:srgbClr val="26203D"/>
                </a:solidFill>
                <a:latin typeface="Century Gothic" pitchFamily="34" charset="0"/>
                <a:ea typeface="Century Gothic" pitchFamily="34" charset="-122"/>
                <a:cs typeface="Century Gothic" pitchFamily="34" charset="-120"/>
              </a:rPr>
              <a:t>Clean in Power Query</a:t>
            </a:r>
            <a:endParaRPr lang="en-US" sz="1350" dirty="0"/>
          </a:p>
        </p:txBody>
      </p:sp>
      <p:sp>
        <p:nvSpPr>
          <p:cNvPr id="11" name="Text 9"/>
          <p:cNvSpPr/>
          <p:nvPr/>
        </p:nvSpPr>
        <p:spPr>
          <a:xfrm>
            <a:off x="4453128" y="2423160"/>
            <a:ext cx="3118104" cy="1188720"/>
          </a:xfrm>
          <a:prstGeom prst="rect">
            <a:avLst/>
          </a:prstGeom>
          <a:noFill/>
          <a:ln/>
        </p:spPr>
        <p:txBody>
          <a:bodyPr wrap="square" rtlCol="0" anchor="ctr"/>
          <a:lstStyle/>
          <a:p>
            <a:pPr indent="0" marL="0">
              <a:lnSpc>
                <a:spcPct val="112000"/>
              </a:lnSpc>
              <a:buNone/>
            </a:pPr>
            <a:r>
              <a:rPr lang="en-US" sz="1000" dirty="0">
                <a:solidFill>
                  <a:srgbClr val="5B5470"/>
                </a:solidFill>
                <a:latin typeface="Calibri" pitchFamily="34" charset="0"/>
                <a:ea typeface="Calibri" pitchFamily="34" charset="-122"/>
                <a:cs typeface="Calibri" pitchFamily="34" charset="-120"/>
              </a:rPr>
              <a:t>Standardized store, product, customer and vendor IDs; fixed data types and currency fields (_ngn suffix convention); removed duplicate rows; flagged rather than silently deleted anomalies like negative stock quantities.</a:t>
            </a:r>
            <a:endParaRPr lang="en-US" sz="1000" dirty="0"/>
          </a:p>
        </p:txBody>
      </p:sp>
      <p:sp>
        <p:nvSpPr>
          <p:cNvPr id="12" name="Shape 10"/>
          <p:cNvSpPr/>
          <p:nvPr/>
        </p:nvSpPr>
        <p:spPr>
          <a:xfrm>
            <a:off x="7955280" y="1508760"/>
            <a:ext cx="3520440" cy="2240280"/>
          </a:xfrm>
          <a:prstGeom prst="roundRect">
            <a:avLst>
              <a:gd name="adj" fmla="val 3265"/>
            </a:avLst>
          </a:prstGeom>
          <a:solidFill>
            <a:srgbClr val="F7F6FC"/>
          </a:solidFill>
          <a:ln w="12700">
            <a:solidFill>
              <a:srgbClr val="E1DEF2"/>
            </a:solidFill>
            <a:prstDash val="solid"/>
          </a:ln>
        </p:spPr>
      </p:sp>
      <p:sp>
        <p:nvSpPr>
          <p:cNvPr id="13" name="Text 11"/>
          <p:cNvSpPr/>
          <p:nvPr/>
        </p:nvSpPr>
        <p:spPr>
          <a:xfrm>
            <a:off x="8156448" y="1645920"/>
            <a:ext cx="1097280" cy="457200"/>
          </a:xfrm>
          <a:prstGeom prst="rect">
            <a:avLst/>
          </a:prstGeom>
          <a:noFill/>
          <a:ln/>
        </p:spPr>
        <p:txBody>
          <a:bodyPr wrap="square" rtlCol="0" anchor="ctr"/>
          <a:lstStyle/>
          <a:p>
            <a:pPr indent="0" marL="0">
              <a:buNone/>
            </a:pPr>
            <a:r>
              <a:rPr lang="en-US" sz="2200" b="1" dirty="0">
                <a:solidFill>
                  <a:srgbClr val="8B7FD6"/>
                </a:solidFill>
                <a:latin typeface="Century Gothic" pitchFamily="34" charset="0"/>
                <a:ea typeface="Century Gothic" pitchFamily="34" charset="-122"/>
                <a:cs typeface="Century Gothic" pitchFamily="34" charset="-120"/>
              </a:rPr>
              <a:t>03</a:t>
            </a:r>
            <a:endParaRPr lang="en-US" sz="2200" dirty="0"/>
          </a:p>
        </p:txBody>
      </p:sp>
      <p:sp>
        <p:nvSpPr>
          <p:cNvPr id="14" name="Text 12"/>
          <p:cNvSpPr/>
          <p:nvPr/>
        </p:nvSpPr>
        <p:spPr>
          <a:xfrm>
            <a:off x="8156448" y="2075688"/>
            <a:ext cx="3118104" cy="320040"/>
          </a:xfrm>
          <a:prstGeom prst="rect">
            <a:avLst/>
          </a:prstGeom>
          <a:noFill/>
          <a:ln/>
        </p:spPr>
        <p:txBody>
          <a:bodyPr wrap="square" rtlCol="0" anchor="ctr"/>
          <a:lstStyle/>
          <a:p>
            <a:pPr indent="0" marL="0">
              <a:buNone/>
            </a:pPr>
            <a:r>
              <a:rPr lang="en-US" sz="1350" b="1" dirty="0">
                <a:solidFill>
                  <a:srgbClr val="26203D"/>
                </a:solidFill>
                <a:latin typeface="Century Gothic" pitchFamily="34" charset="0"/>
                <a:ea typeface="Century Gothic" pitchFamily="34" charset="-122"/>
                <a:cs typeface="Century Gothic" pitchFamily="34" charset="-120"/>
              </a:rPr>
              <a:t>Model relationships</a:t>
            </a:r>
            <a:endParaRPr lang="en-US" sz="1350" dirty="0"/>
          </a:p>
        </p:txBody>
      </p:sp>
      <p:sp>
        <p:nvSpPr>
          <p:cNvPr id="15" name="Text 13"/>
          <p:cNvSpPr/>
          <p:nvPr/>
        </p:nvSpPr>
        <p:spPr>
          <a:xfrm>
            <a:off x="8156448" y="2423160"/>
            <a:ext cx="3118104" cy="1188720"/>
          </a:xfrm>
          <a:prstGeom prst="rect">
            <a:avLst/>
          </a:prstGeom>
          <a:noFill/>
          <a:ln/>
        </p:spPr>
        <p:txBody>
          <a:bodyPr wrap="square" rtlCol="0" anchor="ctr"/>
          <a:lstStyle/>
          <a:p>
            <a:pPr indent="0" marL="0">
              <a:lnSpc>
                <a:spcPct val="112000"/>
              </a:lnSpc>
              <a:buNone/>
            </a:pPr>
            <a:r>
              <a:rPr lang="en-US" sz="1000" dirty="0">
                <a:solidFill>
                  <a:srgbClr val="5B5470"/>
                </a:solidFill>
                <a:latin typeface="Calibri" pitchFamily="34" charset="0"/>
                <a:ea typeface="Calibri" pitchFamily="34" charset="-122"/>
                <a:cs typeface="Calibri" pitchFamily="34" charset="-120"/>
              </a:rPr>
              <a:t>Built a star-schema-style model: Sales, Inventory, AR and AP fact tables linked to shared Store, Product, Customer, Vendor and Date dimension tables so every page filters consistently.</a:t>
            </a:r>
            <a:endParaRPr lang="en-US" sz="1000" dirty="0"/>
          </a:p>
        </p:txBody>
      </p:sp>
      <p:sp>
        <p:nvSpPr>
          <p:cNvPr id="16" name="Shape 14"/>
          <p:cNvSpPr/>
          <p:nvPr/>
        </p:nvSpPr>
        <p:spPr>
          <a:xfrm>
            <a:off x="548640" y="3977640"/>
            <a:ext cx="3520440" cy="2240280"/>
          </a:xfrm>
          <a:prstGeom prst="roundRect">
            <a:avLst>
              <a:gd name="adj" fmla="val 3265"/>
            </a:avLst>
          </a:prstGeom>
          <a:solidFill>
            <a:srgbClr val="F7F6FC"/>
          </a:solidFill>
          <a:ln w="12700">
            <a:solidFill>
              <a:srgbClr val="E1DEF2"/>
            </a:solidFill>
            <a:prstDash val="solid"/>
          </a:ln>
        </p:spPr>
      </p:sp>
      <p:sp>
        <p:nvSpPr>
          <p:cNvPr id="17" name="Text 15"/>
          <p:cNvSpPr/>
          <p:nvPr/>
        </p:nvSpPr>
        <p:spPr>
          <a:xfrm>
            <a:off x="749808" y="4114800"/>
            <a:ext cx="1097280" cy="457200"/>
          </a:xfrm>
          <a:prstGeom prst="rect">
            <a:avLst/>
          </a:prstGeom>
          <a:noFill/>
          <a:ln/>
        </p:spPr>
        <p:txBody>
          <a:bodyPr wrap="square" rtlCol="0" anchor="ctr"/>
          <a:lstStyle/>
          <a:p>
            <a:pPr indent="0" marL="0">
              <a:buNone/>
            </a:pPr>
            <a:r>
              <a:rPr lang="en-US" sz="2200" b="1" dirty="0">
                <a:solidFill>
                  <a:srgbClr val="8B7FD6"/>
                </a:solidFill>
                <a:latin typeface="Century Gothic" pitchFamily="34" charset="0"/>
                <a:ea typeface="Century Gothic" pitchFamily="34" charset="-122"/>
                <a:cs typeface="Century Gothic" pitchFamily="34" charset="-120"/>
              </a:rPr>
              <a:t>04</a:t>
            </a:r>
            <a:endParaRPr lang="en-US" sz="2200" dirty="0"/>
          </a:p>
        </p:txBody>
      </p:sp>
      <p:sp>
        <p:nvSpPr>
          <p:cNvPr id="18" name="Text 16"/>
          <p:cNvSpPr/>
          <p:nvPr/>
        </p:nvSpPr>
        <p:spPr>
          <a:xfrm>
            <a:off x="749808" y="4544568"/>
            <a:ext cx="3118104" cy="320040"/>
          </a:xfrm>
          <a:prstGeom prst="rect">
            <a:avLst/>
          </a:prstGeom>
          <a:noFill/>
          <a:ln/>
        </p:spPr>
        <p:txBody>
          <a:bodyPr wrap="square" rtlCol="0" anchor="ctr"/>
          <a:lstStyle/>
          <a:p>
            <a:pPr indent="0" marL="0">
              <a:buNone/>
            </a:pPr>
            <a:r>
              <a:rPr lang="en-US" sz="1350" b="1" dirty="0">
                <a:solidFill>
                  <a:srgbClr val="26203D"/>
                </a:solidFill>
                <a:latin typeface="Century Gothic" pitchFamily="34" charset="0"/>
                <a:ea typeface="Century Gothic" pitchFamily="34" charset="-122"/>
                <a:cs typeface="Century Gothic" pitchFamily="34" charset="-120"/>
              </a:rPr>
              <a:t>DAX measures</a:t>
            </a:r>
            <a:endParaRPr lang="en-US" sz="1350" dirty="0"/>
          </a:p>
        </p:txBody>
      </p:sp>
      <p:sp>
        <p:nvSpPr>
          <p:cNvPr id="19" name="Text 17"/>
          <p:cNvSpPr/>
          <p:nvPr/>
        </p:nvSpPr>
        <p:spPr>
          <a:xfrm>
            <a:off x="749808" y="4892040"/>
            <a:ext cx="3118104" cy="1188720"/>
          </a:xfrm>
          <a:prstGeom prst="rect">
            <a:avLst/>
          </a:prstGeom>
          <a:noFill/>
          <a:ln/>
        </p:spPr>
        <p:txBody>
          <a:bodyPr wrap="square" rtlCol="0" anchor="ctr"/>
          <a:lstStyle/>
          <a:p>
            <a:pPr indent="0" marL="0">
              <a:lnSpc>
                <a:spcPct val="112000"/>
              </a:lnSpc>
              <a:buNone/>
            </a:pPr>
            <a:r>
              <a:rPr lang="en-US" sz="1000" dirty="0">
                <a:solidFill>
                  <a:srgbClr val="5B5470"/>
                </a:solidFill>
                <a:latin typeface="Calibri" pitchFamily="34" charset="0"/>
                <a:ea typeface="Calibri" pitchFamily="34" charset="-122"/>
                <a:cs typeface="Calibri" pitchFamily="34" charset="-120"/>
              </a:rPr>
              <a:t>Wrote explicit measures for revenue, units sold, return rate, gross margin %, weeks-of-supply, cash collected/paid, and aging buckets rather than relying on implicit sums.</a:t>
            </a:r>
            <a:endParaRPr lang="en-US" sz="1000" dirty="0"/>
          </a:p>
        </p:txBody>
      </p:sp>
      <p:sp>
        <p:nvSpPr>
          <p:cNvPr id="20" name="Shape 18"/>
          <p:cNvSpPr/>
          <p:nvPr/>
        </p:nvSpPr>
        <p:spPr>
          <a:xfrm>
            <a:off x="4251960" y="3977640"/>
            <a:ext cx="3520440" cy="2240280"/>
          </a:xfrm>
          <a:prstGeom prst="roundRect">
            <a:avLst>
              <a:gd name="adj" fmla="val 3265"/>
            </a:avLst>
          </a:prstGeom>
          <a:solidFill>
            <a:srgbClr val="F7F6FC"/>
          </a:solidFill>
          <a:ln w="12700">
            <a:solidFill>
              <a:srgbClr val="E1DEF2"/>
            </a:solidFill>
            <a:prstDash val="solid"/>
          </a:ln>
        </p:spPr>
      </p:sp>
      <p:sp>
        <p:nvSpPr>
          <p:cNvPr id="21" name="Text 19"/>
          <p:cNvSpPr/>
          <p:nvPr/>
        </p:nvSpPr>
        <p:spPr>
          <a:xfrm>
            <a:off x="4453128" y="4114800"/>
            <a:ext cx="1097280" cy="457200"/>
          </a:xfrm>
          <a:prstGeom prst="rect">
            <a:avLst/>
          </a:prstGeom>
          <a:noFill/>
          <a:ln/>
        </p:spPr>
        <p:txBody>
          <a:bodyPr wrap="square" rtlCol="0" anchor="ctr"/>
          <a:lstStyle/>
          <a:p>
            <a:pPr indent="0" marL="0">
              <a:buNone/>
            </a:pPr>
            <a:r>
              <a:rPr lang="en-US" sz="2200" b="1" dirty="0">
                <a:solidFill>
                  <a:srgbClr val="8B7FD6"/>
                </a:solidFill>
                <a:latin typeface="Century Gothic" pitchFamily="34" charset="0"/>
                <a:ea typeface="Century Gothic" pitchFamily="34" charset="-122"/>
                <a:cs typeface="Century Gothic" pitchFamily="34" charset="-120"/>
              </a:rPr>
              <a:t>05</a:t>
            </a:r>
            <a:endParaRPr lang="en-US" sz="2200" dirty="0"/>
          </a:p>
        </p:txBody>
      </p:sp>
      <p:sp>
        <p:nvSpPr>
          <p:cNvPr id="22" name="Text 20"/>
          <p:cNvSpPr/>
          <p:nvPr/>
        </p:nvSpPr>
        <p:spPr>
          <a:xfrm>
            <a:off x="4453128" y="4544568"/>
            <a:ext cx="3118104" cy="320040"/>
          </a:xfrm>
          <a:prstGeom prst="rect">
            <a:avLst/>
          </a:prstGeom>
          <a:noFill/>
          <a:ln/>
        </p:spPr>
        <p:txBody>
          <a:bodyPr wrap="square" rtlCol="0" anchor="ctr"/>
          <a:lstStyle/>
          <a:p>
            <a:pPr indent="0" marL="0">
              <a:buNone/>
            </a:pPr>
            <a:r>
              <a:rPr lang="en-US" sz="1350" b="1" dirty="0">
                <a:solidFill>
                  <a:srgbClr val="26203D"/>
                </a:solidFill>
                <a:latin typeface="Century Gothic" pitchFamily="34" charset="0"/>
                <a:ea typeface="Century Gothic" pitchFamily="34" charset="-122"/>
                <a:cs typeface="Century Gothic" pitchFamily="34" charset="-120"/>
              </a:rPr>
              <a:t>Design &amp; build</a:t>
            </a:r>
            <a:endParaRPr lang="en-US" sz="1350" dirty="0"/>
          </a:p>
        </p:txBody>
      </p:sp>
      <p:sp>
        <p:nvSpPr>
          <p:cNvPr id="23" name="Text 21"/>
          <p:cNvSpPr/>
          <p:nvPr/>
        </p:nvSpPr>
        <p:spPr>
          <a:xfrm>
            <a:off x="4453128" y="4892040"/>
            <a:ext cx="3118104" cy="1188720"/>
          </a:xfrm>
          <a:prstGeom prst="rect">
            <a:avLst/>
          </a:prstGeom>
          <a:noFill/>
          <a:ln/>
        </p:spPr>
        <p:txBody>
          <a:bodyPr wrap="square" rtlCol="0" anchor="ctr"/>
          <a:lstStyle/>
          <a:p>
            <a:pPr indent="0" marL="0">
              <a:lnSpc>
                <a:spcPct val="112000"/>
              </a:lnSpc>
              <a:buNone/>
            </a:pPr>
            <a:r>
              <a:rPr lang="en-US" sz="1000" dirty="0">
                <a:solidFill>
                  <a:srgbClr val="5B5470"/>
                </a:solidFill>
                <a:latin typeface="Calibri" pitchFamily="34" charset="0"/>
                <a:ea typeface="Calibri" pitchFamily="34" charset="-122"/>
                <a:cs typeface="Calibri" pitchFamily="34" charset="-120"/>
              </a:rPr>
              <a:t>Designed 4 report pages with consistent KPI cards, a tab-style navigation bar, slicers (store, category, date, customer/vendor), and drill-through tables for line-level detail.</a:t>
            </a:r>
            <a:endParaRPr lang="en-US" sz="1000" dirty="0"/>
          </a:p>
        </p:txBody>
      </p:sp>
      <p:sp>
        <p:nvSpPr>
          <p:cNvPr id="24" name="Shape 22"/>
          <p:cNvSpPr/>
          <p:nvPr/>
        </p:nvSpPr>
        <p:spPr>
          <a:xfrm>
            <a:off x="7955280" y="3977640"/>
            <a:ext cx="3520440" cy="2240280"/>
          </a:xfrm>
          <a:prstGeom prst="roundRect">
            <a:avLst>
              <a:gd name="adj" fmla="val 3265"/>
            </a:avLst>
          </a:prstGeom>
          <a:solidFill>
            <a:srgbClr val="F7F6FC"/>
          </a:solidFill>
          <a:ln w="12700">
            <a:solidFill>
              <a:srgbClr val="E1DEF2"/>
            </a:solidFill>
            <a:prstDash val="solid"/>
          </a:ln>
        </p:spPr>
      </p:sp>
      <p:sp>
        <p:nvSpPr>
          <p:cNvPr id="25" name="Text 23"/>
          <p:cNvSpPr/>
          <p:nvPr/>
        </p:nvSpPr>
        <p:spPr>
          <a:xfrm>
            <a:off x="8156448" y="4114800"/>
            <a:ext cx="1097280" cy="457200"/>
          </a:xfrm>
          <a:prstGeom prst="rect">
            <a:avLst/>
          </a:prstGeom>
          <a:noFill/>
          <a:ln/>
        </p:spPr>
        <p:txBody>
          <a:bodyPr wrap="square" rtlCol="0" anchor="ctr"/>
          <a:lstStyle/>
          <a:p>
            <a:pPr indent="0" marL="0">
              <a:buNone/>
            </a:pPr>
            <a:r>
              <a:rPr lang="en-US" sz="2200" b="1" dirty="0">
                <a:solidFill>
                  <a:srgbClr val="8B7FD6"/>
                </a:solidFill>
                <a:latin typeface="Century Gothic" pitchFamily="34" charset="0"/>
                <a:ea typeface="Century Gothic" pitchFamily="34" charset="-122"/>
                <a:cs typeface="Century Gothic" pitchFamily="34" charset="-120"/>
              </a:rPr>
              <a:t>06</a:t>
            </a:r>
            <a:endParaRPr lang="en-US" sz="2200" dirty="0"/>
          </a:p>
        </p:txBody>
      </p:sp>
      <p:sp>
        <p:nvSpPr>
          <p:cNvPr id="26" name="Text 24"/>
          <p:cNvSpPr/>
          <p:nvPr/>
        </p:nvSpPr>
        <p:spPr>
          <a:xfrm>
            <a:off x="8156448" y="4544568"/>
            <a:ext cx="3118104" cy="320040"/>
          </a:xfrm>
          <a:prstGeom prst="rect">
            <a:avLst/>
          </a:prstGeom>
          <a:noFill/>
          <a:ln/>
        </p:spPr>
        <p:txBody>
          <a:bodyPr wrap="square" rtlCol="0" anchor="ctr"/>
          <a:lstStyle/>
          <a:p>
            <a:pPr indent="0" marL="0">
              <a:buNone/>
            </a:pPr>
            <a:r>
              <a:rPr lang="en-US" sz="1350" b="1" dirty="0">
                <a:solidFill>
                  <a:srgbClr val="26203D"/>
                </a:solidFill>
                <a:latin typeface="Century Gothic" pitchFamily="34" charset="0"/>
                <a:ea typeface="Century Gothic" pitchFamily="34" charset="-122"/>
                <a:cs typeface="Century Gothic" pitchFamily="34" charset="-120"/>
              </a:rPr>
              <a:t>Validate &amp; QA</a:t>
            </a:r>
            <a:endParaRPr lang="en-US" sz="1350" dirty="0"/>
          </a:p>
        </p:txBody>
      </p:sp>
      <p:sp>
        <p:nvSpPr>
          <p:cNvPr id="27" name="Text 25"/>
          <p:cNvSpPr/>
          <p:nvPr/>
        </p:nvSpPr>
        <p:spPr>
          <a:xfrm>
            <a:off x="8156448" y="4892040"/>
            <a:ext cx="3118104" cy="1188720"/>
          </a:xfrm>
          <a:prstGeom prst="rect">
            <a:avLst/>
          </a:prstGeom>
          <a:noFill/>
          <a:ln/>
        </p:spPr>
        <p:txBody>
          <a:bodyPr wrap="square" rtlCol="0" anchor="ctr"/>
          <a:lstStyle/>
          <a:p>
            <a:pPr indent="0" marL="0">
              <a:lnSpc>
                <a:spcPct val="112000"/>
              </a:lnSpc>
              <a:buNone/>
            </a:pPr>
            <a:r>
              <a:rPr lang="en-US" sz="1000" dirty="0">
                <a:solidFill>
                  <a:srgbClr val="5B5470"/>
                </a:solidFill>
                <a:latin typeface="Calibri" pitchFamily="34" charset="0"/>
                <a:ea typeface="Calibri" pitchFamily="34" charset="-122"/>
                <a:cs typeface="Calibri" pitchFamily="34" charset="-120"/>
              </a:rPr>
              <a:t>Cross-checked page totals against source exports, reconciled the AR/AP totals, and used the negative-stock and unapplied-payment tables as a built-in data-quality check.</a:t>
            </a:r>
            <a:endParaRPr lang="en-US" sz="1000" dirty="0"/>
          </a:p>
        </p:txBody>
      </p:sp>
      <p:sp>
        <p:nvSpPr>
          <p:cNvPr id="28"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TOOLS &amp; DATA MODEL</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Stack and structure behind the four pages</a:t>
            </a:r>
            <a:endParaRPr lang="en-US" sz="3000" dirty="0"/>
          </a:p>
        </p:txBody>
      </p:sp>
      <p:sp>
        <p:nvSpPr>
          <p:cNvPr id="4" name="Text 2"/>
          <p:cNvSpPr/>
          <p:nvPr/>
        </p:nvSpPr>
        <p:spPr>
          <a:xfrm>
            <a:off x="548640" y="1554480"/>
            <a:ext cx="5120640" cy="365760"/>
          </a:xfrm>
          <a:prstGeom prst="rect">
            <a:avLst/>
          </a:prstGeom>
          <a:noFill/>
          <a:ln/>
        </p:spPr>
        <p:txBody>
          <a:bodyPr wrap="square" rtlCol="0" anchor="ctr"/>
          <a:lstStyle/>
          <a:p>
            <a:pPr indent="0" marL="0">
              <a:buNone/>
            </a:pPr>
            <a:r>
              <a:rPr lang="en-US" sz="1500" b="1" dirty="0">
                <a:solidFill>
                  <a:srgbClr val="26203D"/>
                </a:solidFill>
                <a:latin typeface="Century Gothic" pitchFamily="34" charset="0"/>
                <a:ea typeface="Century Gothic" pitchFamily="34" charset="-122"/>
                <a:cs typeface="Century Gothic" pitchFamily="34" charset="-120"/>
              </a:rPr>
              <a:t>Tools used</a:t>
            </a:r>
            <a:endParaRPr lang="en-US" sz="1500" dirty="0"/>
          </a:p>
        </p:txBody>
      </p:sp>
      <p:sp>
        <p:nvSpPr>
          <p:cNvPr id="5" name="Shape 3"/>
          <p:cNvSpPr/>
          <p:nvPr/>
        </p:nvSpPr>
        <p:spPr>
          <a:xfrm>
            <a:off x="548640" y="2011680"/>
            <a:ext cx="256032" cy="256032"/>
          </a:xfrm>
          <a:prstGeom prst="roundRect">
            <a:avLst>
              <a:gd name="adj" fmla="val 17857"/>
            </a:avLst>
          </a:prstGeom>
          <a:solidFill>
            <a:srgbClr val="8B7FD6"/>
          </a:solidFill>
          <a:ln/>
        </p:spPr>
      </p:sp>
      <p:sp>
        <p:nvSpPr>
          <p:cNvPr id="6" name="Text 4"/>
          <p:cNvSpPr/>
          <p:nvPr/>
        </p:nvSpPr>
        <p:spPr>
          <a:xfrm>
            <a:off x="960120" y="1956816"/>
            <a:ext cx="4480560" cy="292608"/>
          </a:xfrm>
          <a:prstGeom prst="rect">
            <a:avLst/>
          </a:prstGeom>
          <a:noFill/>
          <a:ln/>
        </p:spPr>
        <p:txBody>
          <a:bodyPr wrap="square" rtlCol="0" anchor="ctr"/>
          <a:lstStyle/>
          <a:p>
            <a:pPr indent="0" marL="0">
              <a:buNone/>
            </a:pPr>
            <a:r>
              <a:rPr lang="en-US" sz="1250" b="1" dirty="0">
                <a:solidFill>
                  <a:srgbClr val="26203D"/>
                </a:solidFill>
                <a:latin typeface="Calibri" pitchFamily="34" charset="0"/>
                <a:ea typeface="Calibri" pitchFamily="34" charset="-122"/>
                <a:cs typeface="Calibri" pitchFamily="34" charset="-120"/>
              </a:rPr>
              <a:t>Power Query</a:t>
            </a:r>
            <a:endParaRPr lang="en-US" sz="1250" dirty="0"/>
          </a:p>
        </p:txBody>
      </p:sp>
      <p:sp>
        <p:nvSpPr>
          <p:cNvPr id="7" name="Text 5"/>
          <p:cNvSpPr/>
          <p:nvPr/>
        </p:nvSpPr>
        <p:spPr>
          <a:xfrm>
            <a:off x="960120" y="2249424"/>
            <a:ext cx="4572000" cy="365760"/>
          </a:xfrm>
          <a:prstGeom prst="rect">
            <a:avLst/>
          </a:prstGeom>
          <a:noFill/>
          <a:ln/>
        </p:spPr>
        <p:txBody>
          <a:bodyPr wrap="square" rtlCol="0" anchor="ctr"/>
          <a:lstStyle/>
          <a:p>
            <a:pPr indent="0" marL="0">
              <a:buNone/>
            </a:pPr>
            <a:r>
              <a:rPr lang="en-US" sz="1050" dirty="0">
                <a:solidFill>
                  <a:srgbClr val="5B5470"/>
                </a:solidFill>
                <a:latin typeface="Calibri" pitchFamily="34" charset="0"/>
                <a:ea typeface="Calibri" pitchFamily="34" charset="-122"/>
                <a:cs typeface="Calibri" pitchFamily="34" charset="-120"/>
              </a:rPr>
              <a:t>Cleaning, type-fixing, and shaping GoFrugal + Zoho exports</a:t>
            </a:r>
            <a:endParaRPr lang="en-US" sz="1050" dirty="0"/>
          </a:p>
        </p:txBody>
      </p:sp>
      <p:sp>
        <p:nvSpPr>
          <p:cNvPr id="8" name="Shape 6"/>
          <p:cNvSpPr/>
          <p:nvPr/>
        </p:nvSpPr>
        <p:spPr>
          <a:xfrm>
            <a:off x="548640" y="2788920"/>
            <a:ext cx="256032" cy="256032"/>
          </a:xfrm>
          <a:prstGeom prst="roundRect">
            <a:avLst>
              <a:gd name="adj" fmla="val 17857"/>
            </a:avLst>
          </a:prstGeom>
          <a:solidFill>
            <a:srgbClr val="8B7FD6"/>
          </a:solidFill>
          <a:ln/>
        </p:spPr>
      </p:sp>
      <p:sp>
        <p:nvSpPr>
          <p:cNvPr id="9" name="Text 7"/>
          <p:cNvSpPr/>
          <p:nvPr/>
        </p:nvSpPr>
        <p:spPr>
          <a:xfrm>
            <a:off x="960120" y="2734056"/>
            <a:ext cx="4480560" cy="292608"/>
          </a:xfrm>
          <a:prstGeom prst="rect">
            <a:avLst/>
          </a:prstGeom>
          <a:noFill/>
          <a:ln/>
        </p:spPr>
        <p:txBody>
          <a:bodyPr wrap="square" rtlCol="0" anchor="ctr"/>
          <a:lstStyle/>
          <a:p>
            <a:pPr indent="0" marL="0">
              <a:buNone/>
            </a:pPr>
            <a:r>
              <a:rPr lang="en-US" sz="1250" b="1" dirty="0">
                <a:solidFill>
                  <a:srgbClr val="26203D"/>
                </a:solidFill>
                <a:latin typeface="Calibri" pitchFamily="34" charset="0"/>
                <a:ea typeface="Calibri" pitchFamily="34" charset="-122"/>
                <a:cs typeface="Calibri" pitchFamily="34" charset="-120"/>
              </a:rPr>
              <a:t>Power BI Desktop</a:t>
            </a:r>
            <a:endParaRPr lang="en-US" sz="1250" dirty="0"/>
          </a:p>
        </p:txBody>
      </p:sp>
      <p:sp>
        <p:nvSpPr>
          <p:cNvPr id="10" name="Text 8"/>
          <p:cNvSpPr/>
          <p:nvPr/>
        </p:nvSpPr>
        <p:spPr>
          <a:xfrm>
            <a:off x="960120" y="3026664"/>
            <a:ext cx="4572000" cy="365760"/>
          </a:xfrm>
          <a:prstGeom prst="rect">
            <a:avLst/>
          </a:prstGeom>
          <a:noFill/>
          <a:ln/>
        </p:spPr>
        <p:txBody>
          <a:bodyPr wrap="square" rtlCol="0" anchor="ctr"/>
          <a:lstStyle/>
          <a:p>
            <a:pPr indent="0" marL="0">
              <a:buNone/>
            </a:pPr>
            <a:r>
              <a:rPr lang="en-US" sz="1050" dirty="0">
                <a:solidFill>
                  <a:srgbClr val="5B5470"/>
                </a:solidFill>
                <a:latin typeface="Calibri" pitchFamily="34" charset="0"/>
                <a:ea typeface="Calibri" pitchFamily="34" charset="-122"/>
                <a:cs typeface="Calibri" pitchFamily="34" charset="-120"/>
              </a:rPr>
              <a:t>Data model, DAX measures, and the 4-page report build</a:t>
            </a:r>
            <a:endParaRPr lang="en-US" sz="1050" dirty="0"/>
          </a:p>
        </p:txBody>
      </p:sp>
      <p:sp>
        <p:nvSpPr>
          <p:cNvPr id="11" name="Shape 9"/>
          <p:cNvSpPr/>
          <p:nvPr/>
        </p:nvSpPr>
        <p:spPr>
          <a:xfrm>
            <a:off x="548640" y="3566160"/>
            <a:ext cx="256032" cy="256032"/>
          </a:xfrm>
          <a:prstGeom prst="roundRect">
            <a:avLst>
              <a:gd name="adj" fmla="val 17857"/>
            </a:avLst>
          </a:prstGeom>
          <a:solidFill>
            <a:srgbClr val="8B7FD6"/>
          </a:solidFill>
          <a:ln/>
        </p:spPr>
      </p:sp>
      <p:sp>
        <p:nvSpPr>
          <p:cNvPr id="12" name="Text 10"/>
          <p:cNvSpPr/>
          <p:nvPr/>
        </p:nvSpPr>
        <p:spPr>
          <a:xfrm>
            <a:off x="960120" y="3511296"/>
            <a:ext cx="4480560" cy="292608"/>
          </a:xfrm>
          <a:prstGeom prst="rect">
            <a:avLst/>
          </a:prstGeom>
          <a:noFill/>
          <a:ln/>
        </p:spPr>
        <p:txBody>
          <a:bodyPr wrap="square" rtlCol="0" anchor="ctr"/>
          <a:lstStyle/>
          <a:p>
            <a:pPr indent="0" marL="0">
              <a:buNone/>
            </a:pPr>
            <a:r>
              <a:rPr lang="en-US" sz="1250" b="1" dirty="0">
                <a:solidFill>
                  <a:srgbClr val="26203D"/>
                </a:solidFill>
                <a:latin typeface="Calibri" pitchFamily="34" charset="0"/>
                <a:ea typeface="Calibri" pitchFamily="34" charset="-122"/>
                <a:cs typeface="Calibri" pitchFamily="34" charset="-120"/>
              </a:rPr>
              <a:t>DAX</a:t>
            </a:r>
            <a:endParaRPr lang="en-US" sz="1250" dirty="0"/>
          </a:p>
        </p:txBody>
      </p:sp>
      <p:sp>
        <p:nvSpPr>
          <p:cNvPr id="13" name="Text 11"/>
          <p:cNvSpPr/>
          <p:nvPr/>
        </p:nvSpPr>
        <p:spPr>
          <a:xfrm>
            <a:off x="960120" y="3803904"/>
            <a:ext cx="4572000" cy="365760"/>
          </a:xfrm>
          <a:prstGeom prst="rect">
            <a:avLst/>
          </a:prstGeom>
          <a:noFill/>
          <a:ln/>
        </p:spPr>
        <p:txBody>
          <a:bodyPr wrap="square" rtlCol="0" anchor="ctr"/>
          <a:lstStyle/>
          <a:p>
            <a:pPr indent="0" marL="0">
              <a:buNone/>
            </a:pPr>
            <a:r>
              <a:rPr lang="en-US" sz="1050" dirty="0">
                <a:solidFill>
                  <a:srgbClr val="5B5470"/>
                </a:solidFill>
                <a:latin typeface="Calibri" pitchFamily="34" charset="0"/>
                <a:ea typeface="Calibri" pitchFamily="34" charset="-122"/>
                <a:cs typeface="Calibri" pitchFamily="34" charset="-120"/>
              </a:rPr>
              <a:t>Custom measures for margin %, return rate, weeks-of-supply, aging</a:t>
            </a:r>
            <a:endParaRPr lang="en-US" sz="1050" dirty="0"/>
          </a:p>
        </p:txBody>
      </p:sp>
      <p:sp>
        <p:nvSpPr>
          <p:cNvPr id="14" name="Shape 12"/>
          <p:cNvSpPr/>
          <p:nvPr/>
        </p:nvSpPr>
        <p:spPr>
          <a:xfrm>
            <a:off x="548640" y="4343400"/>
            <a:ext cx="256032" cy="256032"/>
          </a:xfrm>
          <a:prstGeom prst="roundRect">
            <a:avLst>
              <a:gd name="adj" fmla="val 17857"/>
            </a:avLst>
          </a:prstGeom>
          <a:solidFill>
            <a:srgbClr val="8B7FD6"/>
          </a:solidFill>
          <a:ln/>
        </p:spPr>
      </p:sp>
      <p:sp>
        <p:nvSpPr>
          <p:cNvPr id="15" name="Text 13"/>
          <p:cNvSpPr/>
          <p:nvPr/>
        </p:nvSpPr>
        <p:spPr>
          <a:xfrm>
            <a:off x="960120" y="4288536"/>
            <a:ext cx="4480560" cy="292608"/>
          </a:xfrm>
          <a:prstGeom prst="rect">
            <a:avLst/>
          </a:prstGeom>
          <a:noFill/>
          <a:ln/>
        </p:spPr>
        <p:txBody>
          <a:bodyPr wrap="square" rtlCol="0" anchor="ctr"/>
          <a:lstStyle/>
          <a:p>
            <a:pPr indent="0" marL="0">
              <a:buNone/>
            </a:pPr>
            <a:r>
              <a:rPr lang="en-US" sz="1250" b="1" dirty="0">
                <a:solidFill>
                  <a:srgbClr val="26203D"/>
                </a:solidFill>
                <a:latin typeface="Calibri" pitchFamily="34" charset="0"/>
                <a:ea typeface="Calibri" pitchFamily="34" charset="-122"/>
                <a:cs typeface="Calibri" pitchFamily="34" charset="-120"/>
              </a:rPr>
              <a:t>Excel</a:t>
            </a:r>
            <a:endParaRPr lang="en-US" sz="1250" dirty="0"/>
          </a:p>
        </p:txBody>
      </p:sp>
      <p:sp>
        <p:nvSpPr>
          <p:cNvPr id="16" name="Text 14"/>
          <p:cNvSpPr/>
          <p:nvPr/>
        </p:nvSpPr>
        <p:spPr>
          <a:xfrm>
            <a:off x="960120" y="4581144"/>
            <a:ext cx="4572000" cy="365760"/>
          </a:xfrm>
          <a:prstGeom prst="rect">
            <a:avLst/>
          </a:prstGeom>
          <a:noFill/>
          <a:ln/>
        </p:spPr>
        <p:txBody>
          <a:bodyPr wrap="square" rtlCol="0" anchor="ctr"/>
          <a:lstStyle/>
          <a:p>
            <a:pPr indent="0" marL="0">
              <a:buNone/>
            </a:pPr>
            <a:r>
              <a:rPr lang="en-US" sz="1050" dirty="0">
                <a:solidFill>
                  <a:srgbClr val="5B5470"/>
                </a:solidFill>
                <a:latin typeface="Calibri" pitchFamily="34" charset="0"/>
                <a:ea typeface="Calibri" pitchFamily="34" charset="-122"/>
                <a:cs typeface="Calibri" pitchFamily="34" charset="-120"/>
              </a:rPr>
              <a:t>Pre-checks on raw exports before load</a:t>
            </a:r>
            <a:endParaRPr lang="en-US" sz="1050" dirty="0"/>
          </a:p>
        </p:txBody>
      </p:sp>
      <p:sp>
        <p:nvSpPr>
          <p:cNvPr id="17" name="Text 15"/>
          <p:cNvSpPr/>
          <p:nvPr/>
        </p:nvSpPr>
        <p:spPr>
          <a:xfrm>
            <a:off x="6126480" y="1554480"/>
            <a:ext cx="5120640" cy="365760"/>
          </a:xfrm>
          <a:prstGeom prst="rect">
            <a:avLst/>
          </a:prstGeom>
          <a:noFill/>
          <a:ln/>
        </p:spPr>
        <p:txBody>
          <a:bodyPr wrap="square" rtlCol="0" anchor="ctr"/>
          <a:lstStyle/>
          <a:p>
            <a:pPr indent="0" marL="0">
              <a:buNone/>
            </a:pPr>
            <a:r>
              <a:rPr lang="en-US" sz="1500" b="1" dirty="0">
                <a:solidFill>
                  <a:srgbClr val="26203D"/>
                </a:solidFill>
                <a:latin typeface="Century Gothic" pitchFamily="34" charset="0"/>
                <a:ea typeface="Century Gothic" pitchFamily="34" charset="-122"/>
                <a:cs typeface="Century Gothic" pitchFamily="34" charset="-120"/>
              </a:rPr>
              <a:t>Simplified data model</a:t>
            </a:r>
            <a:endParaRPr lang="en-US" sz="1500" dirty="0"/>
          </a:p>
        </p:txBody>
      </p:sp>
      <p:sp>
        <p:nvSpPr>
          <p:cNvPr id="18" name="Shape 16"/>
          <p:cNvSpPr/>
          <p:nvPr/>
        </p:nvSpPr>
        <p:spPr>
          <a:xfrm>
            <a:off x="6309360" y="2103120"/>
            <a:ext cx="1828800" cy="457200"/>
          </a:xfrm>
          <a:prstGeom prst="roundRect">
            <a:avLst>
              <a:gd name="adj" fmla="val 14000"/>
            </a:avLst>
          </a:prstGeom>
          <a:solidFill>
            <a:srgbClr val="241B3D"/>
          </a:solidFill>
          <a:ln/>
        </p:spPr>
      </p:sp>
      <p:sp>
        <p:nvSpPr>
          <p:cNvPr id="19" name="Text 17"/>
          <p:cNvSpPr/>
          <p:nvPr/>
        </p:nvSpPr>
        <p:spPr>
          <a:xfrm>
            <a:off x="6309360" y="2103120"/>
            <a:ext cx="18288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Store</a:t>
            </a:r>
            <a:endParaRPr lang="en-US" sz="1000" dirty="0"/>
          </a:p>
        </p:txBody>
      </p:sp>
      <p:sp>
        <p:nvSpPr>
          <p:cNvPr id="20" name="Shape 18"/>
          <p:cNvSpPr/>
          <p:nvPr/>
        </p:nvSpPr>
        <p:spPr>
          <a:xfrm>
            <a:off x="8869680" y="2103120"/>
            <a:ext cx="1828800" cy="457200"/>
          </a:xfrm>
          <a:prstGeom prst="roundRect">
            <a:avLst>
              <a:gd name="adj" fmla="val 14000"/>
            </a:avLst>
          </a:prstGeom>
          <a:solidFill>
            <a:srgbClr val="241B3D"/>
          </a:solidFill>
          <a:ln/>
        </p:spPr>
      </p:sp>
      <p:sp>
        <p:nvSpPr>
          <p:cNvPr id="21" name="Text 19"/>
          <p:cNvSpPr/>
          <p:nvPr/>
        </p:nvSpPr>
        <p:spPr>
          <a:xfrm>
            <a:off x="8869680" y="2103120"/>
            <a:ext cx="18288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Date</a:t>
            </a:r>
            <a:endParaRPr lang="en-US" sz="1000" dirty="0"/>
          </a:p>
        </p:txBody>
      </p:sp>
      <p:sp>
        <p:nvSpPr>
          <p:cNvPr id="22" name="Shape 20"/>
          <p:cNvSpPr/>
          <p:nvPr/>
        </p:nvSpPr>
        <p:spPr>
          <a:xfrm>
            <a:off x="6309360" y="4892040"/>
            <a:ext cx="1828800" cy="457200"/>
          </a:xfrm>
          <a:prstGeom prst="roundRect">
            <a:avLst>
              <a:gd name="adj" fmla="val 14000"/>
            </a:avLst>
          </a:prstGeom>
          <a:solidFill>
            <a:srgbClr val="241B3D"/>
          </a:solidFill>
          <a:ln/>
        </p:spPr>
      </p:sp>
      <p:sp>
        <p:nvSpPr>
          <p:cNvPr id="23" name="Text 21"/>
          <p:cNvSpPr/>
          <p:nvPr/>
        </p:nvSpPr>
        <p:spPr>
          <a:xfrm>
            <a:off x="6309360" y="4892040"/>
            <a:ext cx="18288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Product</a:t>
            </a:r>
            <a:endParaRPr lang="en-US" sz="1000" dirty="0"/>
          </a:p>
        </p:txBody>
      </p:sp>
      <p:sp>
        <p:nvSpPr>
          <p:cNvPr id="24" name="Shape 22"/>
          <p:cNvSpPr/>
          <p:nvPr/>
        </p:nvSpPr>
        <p:spPr>
          <a:xfrm>
            <a:off x="8686800" y="4892040"/>
            <a:ext cx="1828800" cy="457200"/>
          </a:xfrm>
          <a:prstGeom prst="roundRect">
            <a:avLst>
              <a:gd name="adj" fmla="val 14000"/>
            </a:avLst>
          </a:prstGeom>
          <a:solidFill>
            <a:srgbClr val="241B3D"/>
          </a:solidFill>
          <a:ln/>
        </p:spPr>
      </p:sp>
      <p:sp>
        <p:nvSpPr>
          <p:cNvPr id="25" name="Text 23"/>
          <p:cNvSpPr/>
          <p:nvPr/>
        </p:nvSpPr>
        <p:spPr>
          <a:xfrm>
            <a:off x="8686800" y="4892040"/>
            <a:ext cx="182880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 / Vendor</a:t>
            </a:r>
            <a:endParaRPr lang="en-US" sz="1000" dirty="0"/>
          </a:p>
        </p:txBody>
      </p:sp>
      <p:sp>
        <p:nvSpPr>
          <p:cNvPr id="26" name="Shape 24"/>
          <p:cNvSpPr/>
          <p:nvPr/>
        </p:nvSpPr>
        <p:spPr>
          <a:xfrm>
            <a:off x="6858000" y="2880360"/>
            <a:ext cx="1737360" cy="457200"/>
          </a:xfrm>
          <a:prstGeom prst="roundRect">
            <a:avLst>
              <a:gd name="adj" fmla="val 14000"/>
            </a:avLst>
          </a:prstGeom>
          <a:solidFill>
            <a:srgbClr val="EDEAFB"/>
          </a:solidFill>
          <a:ln w="12700">
            <a:solidFill>
              <a:srgbClr val="8B7FD6"/>
            </a:solidFill>
            <a:prstDash val="solid"/>
          </a:ln>
        </p:spPr>
      </p:sp>
      <p:sp>
        <p:nvSpPr>
          <p:cNvPr id="27" name="Text 25"/>
          <p:cNvSpPr/>
          <p:nvPr/>
        </p:nvSpPr>
        <p:spPr>
          <a:xfrm>
            <a:off x="6858000" y="2880360"/>
            <a:ext cx="1737360" cy="457200"/>
          </a:xfrm>
          <a:prstGeom prst="rect">
            <a:avLst/>
          </a:prstGeom>
          <a:noFill/>
          <a:ln/>
        </p:spPr>
        <p:txBody>
          <a:bodyPr wrap="square" rtlCol="0" anchor="ctr"/>
          <a:lstStyle/>
          <a:p>
            <a:pPr algn="ctr" indent="0" marL="0">
              <a:buNone/>
            </a:pPr>
            <a:r>
              <a:rPr lang="en-US" sz="1000" b="1" dirty="0">
                <a:solidFill>
                  <a:srgbClr val="6C5CE0"/>
                </a:solidFill>
                <a:latin typeface="Calibri" pitchFamily="34" charset="0"/>
                <a:ea typeface="Calibri" pitchFamily="34" charset="-122"/>
                <a:cs typeface="Calibri" pitchFamily="34" charset="-120"/>
              </a:rPr>
              <a:t>Sales Fact</a:t>
            </a:r>
            <a:endParaRPr lang="en-US" sz="1000" dirty="0"/>
          </a:p>
        </p:txBody>
      </p:sp>
      <p:sp>
        <p:nvSpPr>
          <p:cNvPr id="28" name="Shape 26"/>
          <p:cNvSpPr/>
          <p:nvPr/>
        </p:nvSpPr>
        <p:spPr>
          <a:xfrm>
            <a:off x="9052560" y="2880360"/>
            <a:ext cx="1737360" cy="457200"/>
          </a:xfrm>
          <a:prstGeom prst="roundRect">
            <a:avLst>
              <a:gd name="adj" fmla="val 14000"/>
            </a:avLst>
          </a:prstGeom>
          <a:solidFill>
            <a:srgbClr val="EDEAFB"/>
          </a:solidFill>
          <a:ln w="12700">
            <a:solidFill>
              <a:srgbClr val="8B7FD6"/>
            </a:solidFill>
            <a:prstDash val="solid"/>
          </a:ln>
        </p:spPr>
      </p:sp>
      <p:sp>
        <p:nvSpPr>
          <p:cNvPr id="29" name="Text 27"/>
          <p:cNvSpPr/>
          <p:nvPr/>
        </p:nvSpPr>
        <p:spPr>
          <a:xfrm>
            <a:off x="9052560" y="2880360"/>
            <a:ext cx="1737360" cy="457200"/>
          </a:xfrm>
          <a:prstGeom prst="rect">
            <a:avLst/>
          </a:prstGeom>
          <a:noFill/>
          <a:ln/>
        </p:spPr>
        <p:txBody>
          <a:bodyPr wrap="square" rtlCol="0" anchor="ctr"/>
          <a:lstStyle/>
          <a:p>
            <a:pPr algn="ctr" indent="0" marL="0">
              <a:buNone/>
            </a:pPr>
            <a:r>
              <a:rPr lang="en-US" sz="1000" b="1" dirty="0">
                <a:solidFill>
                  <a:srgbClr val="6C5CE0"/>
                </a:solidFill>
                <a:latin typeface="Calibri" pitchFamily="34" charset="0"/>
                <a:ea typeface="Calibri" pitchFamily="34" charset="-122"/>
                <a:cs typeface="Calibri" pitchFamily="34" charset="-120"/>
              </a:rPr>
              <a:t>Inventory Fact</a:t>
            </a:r>
            <a:endParaRPr lang="en-US" sz="1000" dirty="0"/>
          </a:p>
        </p:txBody>
      </p:sp>
      <p:sp>
        <p:nvSpPr>
          <p:cNvPr id="30" name="Shape 28"/>
          <p:cNvSpPr/>
          <p:nvPr/>
        </p:nvSpPr>
        <p:spPr>
          <a:xfrm>
            <a:off x="6858000" y="3931920"/>
            <a:ext cx="1737360" cy="457200"/>
          </a:xfrm>
          <a:prstGeom prst="roundRect">
            <a:avLst>
              <a:gd name="adj" fmla="val 14000"/>
            </a:avLst>
          </a:prstGeom>
          <a:solidFill>
            <a:srgbClr val="EDEAFB"/>
          </a:solidFill>
          <a:ln w="12700">
            <a:solidFill>
              <a:srgbClr val="8B7FD6"/>
            </a:solidFill>
            <a:prstDash val="solid"/>
          </a:ln>
        </p:spPr>
      </p:sp>
      <p:sp>
        <p:nvSpPr>
          <p:cNvPr id="31" name="Text 29"/>
          <p:cNvSpPr/>
          <p:nvPr/>
        </p:nvSpPr>
        <p:spPr>
          <a:xfrm>
            <a:off x="6858000" y="3931920"/>
            <a:ext cx="1737360" cy="457200"/>
          </a:xfrm>
          <a:prstGeom prst="rect">
            <a:avLst/>
          </a:prstGeom>
          <a:noFill/>
          <a:ln/>
        </p:spPr>
        <p:txBody>
          <a:bodyPr wrap="square" rtlCol="0" anchor="ctr"/>
          <a:lstStyle/>
          <a:p>
            <a:pPr algn="ctr" indent="0" marL="0">
              <a:buNone/>
            </a:pPr>
            <a:r>
              <a:rPr lang="en-US" sz="1000" b="1" dirty="0">
                <a:solidFill>
                  <a:srgbClr val="6C5CE0"/>
                </a:solidFill>
                <a:latin typeface="Calibri" pitchFamily="34" charset="0"/>
                <a:ea typeface="Calibri" pitchFamily="34" charset="-122"/>
                <a:cs typeface="Calibri" pitchFamily="34" charset="-120"/>
              </a:rPr>
              <a:t>AR Fact</a:t>
            </a:r>
            <a:endParaRPr lang="en-US" sz="1000" dirty="0"/>
          </a:p>
        </p:txBody>
      </p:sp>
      <p:sp>
        <p:nvSpPr>
          <p:cNvPr id="32" name="Shape 30"/>
          <p:cNvSpPr/>
          <p:nvPr/>
        </p:nvSpPr>
        <p:spPr>
          <a:xfrm>
            <a:off x="9052560" y="3931920"/>
            <a:ext cx="1737360" cy="457200"/>
          </a:xfrm>
          <a:prstGeom prst="roundRect">
            <a:avLst>
              <a:gd name="adj" fmla="val 14000"/>
            </a:avLst>
          </a:prstGeom>
          <a:solidFill>
            <a:srgbClr val="EDEAFB"/>
          </a:solidFill>
          <a:ln w="12700">
            <a:solidFill>
              <a:srgbClr val="8B7FD6"/>
            </a:solidFill>
            <a:prstDash val="solid"/>
          </a:ln>
        </p:spPr>
      </p:sp>
      <p:sp>
        <p:nvSpPr>
          <p:cNvPr id="33" name="Text 31"/>
          <p:cNvSpPr/>
          <p:nvPr/>
        </p:nvSpPr>
        <p:spPr>
          <a:xfrm>
            <a:off x="9052560" y="3931920"/>
            <a:ext cx="1737360" cy="457200"/>
          </a:xfrm>
          <a:prstGeom prst="rect">
            <a:avLst/>
          </a:prstGeom>
          <a:noFill/>
          <a:ln/>
        </p:spPr>
        <p:txBody>
          <a:bodyPr wrap="square" rtlCol="0" anchor="ctr"/>
          <a:lstStyle/>
          <a:p>
            <a:pPr algn="ctr" indent="0" marL="0">
              <a:buNone/>
            </a:pPr>
            <a:r>
              <a:rPr lang="en-US" sz="1000" b="1" dirty="0">
                <a:solidFill>
                  <a:srgbClr val="6C5CE0"/>
                </a:solidFill>
                <a:latin typeface="Calibri" pitchFamily="34" charset="0"/>
                <a:ea typeface="Calibri" pitchFamily="34" charset="-122"/>
                <a:cs typeface="Calibri" pitchFamily="34" charset="-120"/>
              </a:rPr>
              <a:t>AP Fact</a:t>
            </a:r>
            <a:endParaRPr lang="en-US" sz="1000" dirty="0"/>
          </a:p>
        </p:txBody>
      </p:sp>
      <p:sp>
        <p:nvSpPr>
          <p:cNvPr id="34" name="Text 32"/>
          <p:cNvSpPr/>
          <p:nvPr/>
        </p:nvSpPr>
        <p:spPr>
          <a:xfrm>
            <a:off x="6126480" y="5623560"/>
            <a:ext cx="5394960" cy="822960"/>
          </a:xfrm>
          <a:prstGeom prst="rect">
            <a:avLst/>
          </a:prstGeom>
          <a:noFill/>
          <a:ln/>
        </p:spPr>
        <p:txBody>
          <a:bodyPr wrap="square" rtlCol="0" anchor="ctr"/>
          <a:lstStyle/>
          <a:p>
            <a:pPr indent="0" marL="0">
              <a:buNone/>
            </a:pPr>
            <a:r>
              <a:rPr lang="en-US" sz="1050" i="1" dirty="0">
                <a:solidFill>
                  <a:srgbClr val="5B5470"/>
                </a:solidFill>
                <a:latin typeface="Calibri" pitchFamily="34" charset="0"/>
                <a:ea typeface="Calibri" pitchFamily="34" charset="-122"/>
                <a:cs typeface="Calibri" pitchFamily="34" charset="-120"/>
              </a:rPr>
              <a:t>Star-schema pattern: shared Store, Date, Product and Customer/Vendor dimensions feed all four fact tables, so a slicer on any page filters consistently across the model.</a:t>
            </a:r>
            <a:endParaRPr lang="en-US" sz="1050" dirty="0"/>
          </a:p>
        </p:txBody>
      </p:sp>
      <p:sp>
        <p:nvSpPr>
          <p:cNvPr id="35" name="Text 3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1B3D"/>
        </a:solidFill>
      </p:bgPr>
    </p:bg>
    <p:spTree>
      <p:nvGrpSpPr>
        <p:cNvPr id="1" name=""/>
        <p:cNvGrpSpPr/>
        <p:nvPr/>
      </p:nvGrpSpPr>
      <p:grpSpPr>
        <a:xfrm>
          <a:off x="0" y="0"/>
          <a:ext cx="0" cy="0"/>
          <a:chOff x="0" y="0"/>
          <a:chExt cx="0" cy="0"/>
        </a:xfrm>
      </p:grpSpPr>
      <p:sp>
        <p:nvSpPr>
          <p:cNvPr id="2" name="Text 0"/>
          <p:cNvSpPr/>
          <p:nvPr/>
        </p:nvSpPr>
        <p:spPr>
          <a:xfrm>
            <a:off x="731520" y="2331720"/>
            <a:ext cx="7315200" cy="365760"/>
          </a:xfrm>
          <a:prstGeom prst="rect">
            <a:avLst/>
          </a:prstGeom>
          <a:noFill/>
          <a:ln/>
        </p:spPr>
        <p:txBody>
          <a:bodyPr wrap="square" rtlCol="0" anchor="ctr"/>
          <a:lstStyle/>
          <a:p>
            <a:pPr indent="0" marL="0">
              <a:buNone/>
            </a:pPr>
            <a:r>
              <a:rPr lang="en-US" sz="1300" b="1" spc="300" kern="0" dirty="0">
                <a:solidFill>
                  <a:srgbClr val="8B7FD6"/>
                </a:solidFill>
                <a:latin typeface="Calibri" pitchFamily="34" charset="0"/>
                <a:ea typeface="Calibri" pitchFamily="34" charset="-122"/>
                <a:cs typeface="Calibri" pitchFamily="34" charset="-120"/>
              </a:rPr>
              <a:t>PAGE 1 OF 4</a:t>
            </a:r>
            <a:endParaRPr lang="en-US" sz="1300" dirty="0"/>
          </a:p>
        </p:txBody>
      </p:sp>
      <p:sp>
        <p:nvSpPr>
          <p:cNvPr id="3" name="Text 1"/>
          <p:cNvSpPr/>
          <p:nvPr/>
        </p:nvSpPr>
        <p:spPr>
          <a:xfrm>
            <a:off x="731520" y="2697480"/>
            <a:ext cx="10515600" cy="1463040"/>
          </a:xfrm>
          <a:prstGeom prst="rect">
            <a:avLst/>
          </a:prstGeom>
          <a:noFill/>
          <a:ln/>
        </p:spPr>
        <p:txBody>
          <a:bodyPr wrap="square"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Sales Overview</a:t>
            </a:r>
            <a:endParaRPr lang="en-US" sz="4000" dirty="0"/>
          </a:p>
        </p:txBody>
      </p:sp>
      <p:sp>
        <p:nvSpPr>
          <p:cNvPr id="4" name="Text 2"/>
          <p:cNvSpPr/>
          <p:nvPr/>
        </p:nvSpPr>
        <p:spPr>
          <a:xfrm>
            <a:off x="731520" y="3977640"/>
            <a:ext cx="9418320" cy="731520"/>
          </a:xfrm>
          <a:prstGeom prst="rect">
            <a:avLst/>
          </a:prstGeom>
          <a:noFill/>
          <a:ln/>
        </p:spPr>
        <p:txBody>
          <a:bodyPr wrap="square" rtlCol="0" anchor="ctr"/>
          <a:lstStyle/>
          <a:p>
            <a:pPr indent="0" marL="0">
              <a:buNone/>
            </a:pPr>
            <a:r>
              <a:rPr lang="en-US" sz="1500" dirty="0">
                <a:solidFill>
                  <a:srgbClr val="C9C3EA"/>
                </a:solidFill>
                <a:latin typeface="Calibri" pitchFamily="34" charset="0"/>
                <a:ea typeface="Calibri" pitchFamily="34" charset="-122"/>
                <a:cs typeface="Calibri" pitchFamily="34" charset="-120"/>
              </a:rPr>
              <a:t>Weekly revenue, units, returns and margin by store — the top-line performance view leadership opens first.</a:t>
            </a:r>
            <a:endParaRPr lang="en-US" sz="1500" dirty="0"/>
          </a:p>
        </p:txBody>
      </p:sp>
      <p:sp>
        <p:nvSpPr>
          <p:cNvPr id="5" name="Shape 3"/>
          <p:cNvSpPr/>
          <p:nvPr/>
        </p:nvSpPr>
        <p:spPr>
          <a:xfrm>
            <a:off x="731520" y="5074920"/>
            <a:ext cx="1965960" cy="502920"/>
          </a:xfrm>
          <a:prstGeom prst="roundRect">
            <a:avLst>
              <a:gd name="adj" fmla="val 10909"/>
            </a:avLst>
          </a:prstGeom>
          <a:solidFill>
            <a:srgbClr val="8B7FD6"/>
          </a:solidFill>
          <a:ln/>
        </p:spPr>
      </p:sp>
      <p:sp>
        <p:nvSpPr>
          <p:cNvPr id="6" name="Text 4"/>
          <p:cNvSpPr/>
          <p:nvPr/>
        </p:nvSpPr>
        <p:spPr>
          <a:xfrm>
            <a:off x="731520" y="507492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Sales Overview</a:t>
            </a:r>
            <a:endParaRPr lang="en-US" sz="1050" dirty="0"/>
          </a:p>
        </p:txBody>
      </p:sp>
      <p:sp>
        <p:nvSpPr>
          <p:cNvPr id="7" name="Shape 5"/>
          <p:cNvSpPr/>
          <p:nvPr/>
        </p:nvSpPr>
        <p:spPr>
          <a:xfrm>
            <a:off x="2807208" y="5074920"/>
            <a:ext cx="1965960" cy="502920"/>
          </a:xfrm>
          <a:prstGeom prst="roundRect">
            <a:avLst>
              <a:gd name="adj" fmla="val 10909"/>
            </a:avLst>
          </a:prstGeom>
          <a:solidFill>
            <a:srgbClr val="342A5C"/>
          </a:solidFill>
          <a:ln/>
        </p:spPr>
      </p:sp>
      <p:sp>
        <p:nvSpPr>
          <p:cNvPr id="8" name="Text 6"/>
          <p:cNvSpPr/>
          <p:nvPr/>
        </p:nvSpPr>
        <p:spPr>
          <a:xfrm>
            <a:off x="2807208"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Inventory Snapshot</a:t>
            </a:r>
            <a:endParaRPr lang="en-US" sz="1050" dirty="0"/>
          </a:p>
        </p:txBody>
      </p:sp>
      <p:sp>
        <p:nvSpPr>
          <p:cNvPr id="9" name="Shape 7"/>
          <p:cNvSpPr/>
          <p:nvPr/>
        </p:nvSpPr>
        <p:spPr>
          <a:xfrm>
            <a:off x="4882896" y="5074920"/>
            <a:ext cx="1965960" cy="502920"/>
          </a:xfrm>
          <a:prstGeom prst="roundRect">
            <a:avLst>
              <a:gd name="adj" fmla="val 10909"/>
            </a:avLst>
          </a:prstGeom>
          <a:solidFill>
            <a:srgbClr val="342A5C"/>
          </a:solidFill>
          <a:ln/>
        </p:spPr>
      </p:sp>
      <p:sp>
        <p:nvSpPr>
          <p:cNvPr id="10" name="Text 8"/>
          <p:cNvSpPr/>
          <p:nvPr/>
        </p:nvSpPr>
        <p:spPr>
          <a:xfrm>
            <a:off x="4882896"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Customer &amp; AR</a:t>
            </a:r>
            <a:endParaRPr lang="en-US" sz="1050" dirty="0"/>
          </a:p>
        </p:txBody>
      </p:sp>
      <p:sp>
        <p:nvSpPr>
          <p:cNvPr id="11" name="Shape 9"/>
          <p:cNvSpPr/>
          <p:nvPr/>
        </p:nvSpPr>
        <p:spPr>
          <a:xfrm>
            <a:off x="6958584" y="5074920"/>
            <a:ext cx="1965960" cy="502920"/>
          </a:xfrm>
          <a:prstGeom prst="roundRect">
            <a:avLst>
              <a:gd name="adj" fmla="val 10909"/>
            </a:avLst>
          </a:prstGeom>
          <a:solidFill>
            <a:srgbClr val="342A5C"/>
          </a:solidFill>
          <a:ln/>
        </p:spPr>
      </p:sp>
      <p:sp>
        <p:nvSpPr>
          <p:cNvPr id="12" name="Text 10"/>
          <p:cNvSpPr/>
          <p:nvPr/>
        </p:nvSpPr>
        <p:spPr>
          <a:xfrm>
            <a:off x="6958584"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Vendor &amp; AP</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SALES OVERVIEW  ·  KPIS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1.26bn in tracked revenue across 4 stores</a:t>
            </a:r>
            <a:endParaRPr lang="en-US" sz="3000" dirty="0"/>
          </a:p>
        </p:txBody>
      </p:sp>
      <p:sp>
        <p:nvSpPr>
          <p:cNvPr id="4" name="Shape 2"/>
          <p:cNvSpPr/>
          <p:nvPr/>
        </p:nvSpPr>
        <p:spPr>
          <a:xfrm>
            <a:off x="5486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5" name="Shape 3"/>
          <p:cNvSpPr/>
          <p:nvPr/>
        </p:nvSpPr>
        <p:spPr>
          <a:xfrm>
            <a:off x="713232" y="1673352"/>
            <a:ext cx="54864" cy="630936"/>
          </a:xfrm>
          <a:prstGeom prst="rect">
            <a:avLst/>
          </a:prstGeom>
          <a:solidFill>
            <a:srgbClr val="8B7FD6"/>
          </a:solidFill>
          <a:ln/>
        </p:spPr>
      </p:sp>
      <p:sp>
        <p:nvSpPr>
          <p:cNvPr id="6" name="Text 4"/>
          <p:cNvSpPr/>
          <p:nvPr/>
        </p:nvSpPr>
        <p:spPr>
          <a:xfrm>
            <a:off x="8686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1.26bn</a:t>
            </a:r>
            <a:endParaRPr lang="en-US" sz="2200" dirty="0"/>
          </a:p>
        </p:txBody>
      </p:sp>
      <p:sp>
        <p:nvSpPr>
          <p:cNvPr id="7" name="Text 5"/>
          <p:cNvSpPr/>
          <p:nvPr/>
        </p:nvSpPr>
        <p:spPr>
          <a:xfrm>
            <a:off x="8686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REVENUE</a:t>
            </a:r>
            <a:endParaRPr lang="en-US" sz="950" dirty="0"/>
          </a:p>
        </p:txBody>
      </p:sp>
      <p:sp>
        <p:nvSpPr>
          <p:cNvPr id="8" name="Shape 6"/>
          <p:cNvSpPr/>
          <p:nvPr/>
        </p:nvSpPr>
        <p:spPr>
          <a:xfrm>
            <a:off x="32918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9" name="Shape 7"/>
          <p:cNvSpPr/>
          <p:nvPr/>
        </p:nvSpPr>
        <p:spPr>
          <a:xfrm>
            <a:off x="3456432" y="1673352"/>
            <a:ext cx="54864" cy="630936"/>
          </a:xfrm>
          <a:prstGeom prst="rect">
            <a:avLst/>
          </a:prstGeom>
          <a:solidFill>
            <a:srgbClr val="4FB6A8"/>
          </a:solidFill>
          <a:ln/>
        </p:spPr>
      </p:sp>
      <p:sp>
        <p:nvSpPr>
          <p:cNvPr id="10" name="Text 8"/>
          <p:cNvSpPr/>
          <p:nvPr/>
        </p:nvSpPr>
        <p:spPr>
          <a:xfrm>
            <a:off x="36118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850.49K</a:t>
            </a:r>
            <a:endParaRPr lang="en-US" sz="2200" dirty="0"/>
          </a:p>
        </p:txBody>
      </p:sp>
      <p:sp>
        <p:nvSpPr>
          <p:cNvPr id="11" name="Text 9"/>
          <p:cNvSpPr/>
          <p:nvPr/>
        </p:nvSpPr>
        <p:spPr>
          <a:xfrm>
            <a:off x="36118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UNITS SOLD</a:t>
            </a:r>
            <a:endParaRPr lang="en-US" sz="950" dirty="0"/>
          </a:p>
        </p:txBody>
      </p:sp>
      <p:sp>
        <p:nvSpPr>
          <p:cNvPr id="12" name="Shape 10"/>
          <p:cNvSpPr/>
          <p:nvPr/>
        </p:nvSpPr>
        <p:spPr>
          <a:xfrm>
            <a:off x="60350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3" name="Shape 11"/>
          <p:cNvSpPr/>
          <p:nvPr/>
        </p:nvSpPr>
        <p:spPr>
          <a:xfrm>
            <a:off x="6199632" y="1673352"/>
            <a:ext cx="54864" cy="630936"/>
          </a:xfrm>
          <a:prstGeom prst="rect">
            <a:avLst/>
          </a:prstGeom>
          <a:solidFill>
            <a:srgbClr val="D8636B"/>
          </a:solidFill>
          <a:ln/>
        </p:spPr>
      </p:sp>
      <p:sp>
        <p:nvSpPr>
          <p:cNvPr id="14" name="Text 12"/>
          <p:cNvSpPr/>
          <p:nvPr/>
        </p:nvSpPr>
        <p:spPr>
          <a:xfrm>
            <a:off x="63550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431.22K</a:t>
            </a:r>
            <a:endParaRPr lang="en-US" sz="2200" dirty="0"/>
          </a:p>
        </p:txBody>
      </p:sp>
      <p:sp>
        <p:nvSpPr>
          <p:cNvPr id="15" name="Text 13"/>
          <p:cNvSpPr/>
          <p:nvPr/>
        </p:nvSpPr>
        <p:spPr>
          <a:xfrm>
            <a:off x="63550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RETURNS</a:t>
            </a:r>
            <a:endParaRPr lang="en-US" sz="950" dirty="0"/>
          </a:p>
        </p:txBody>
      </p:sp>
      <p:sp>
        <p:nvSpPr>
          <p:cNvPr id="16" name="Shape 14"/>
          <p:cNvSpPr/>
          <p:nvPr/>
        </p:nvSpPr>
        <p:spPr>
          <a:xfrm>
            <a:off x="87782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7" name="Shape 15"/>
          <p:cNvSpPr/>
          <p:nvPr/>
        </p:nvSpPr>
        <p:spPr>
          <a:xfrm>
            <a:off x="8942832" y="1673352"/>
            <a:ext cx="54864" cy="630936"/>
          </a:xfrm>
          <a:prstGeom prst="rect">
            <a:avLst/>
          </a:prstGeom>
          <a:solidFill>
            <a:srgbClr val="E0A93E"/>
          </a:solidFill>
          <a:ln/>
        </p:spPr>
      </p:sp>
      <p:sp>
        <p:nvSpPr>
          <p:cNvPr id="18" name="Text 16"/>
          <p:cNvSpPr/>
          <p:nvPr/>
        </p:nvSpPr>
        <p:spPr>
          <a:xfrm>
            <a:off x="90982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419.68M</a:t>
            </a:r>
            <a:endParaRPr lang="en-US" sz="2200" dirty="0"/>
          </a:p>
        </p:txBody>
      </p:sp>
      <p:sp>
        <p:nvSpPr>
          <p:cNvPr id="19" name="Text 17"/>
          <p:cNvSpPr/>
          <p:nvPr/>
        </p:nvSpPr>
        <p:spPr>
          <a:xfrm>
            <a:off x="90982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GROSS MARGIN</a:t>
            </a:r>
            <a:endParaRPr lang="en-US" sz="950" dirty="0"/>
          </a:p>
        </p:txBody>
      </p:sp>
      <p:sp>
        <p:nvSpPr>
          <p:cNvPr id="20" name="Text 18"/>
          <p:cNvSpPr/>
          <p:nvPr/>
        </p:nvSpPr>
        <p:spPr>
          <a:xfrm>
            <a:off x="548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Revenue by store (₦)</a:t>
            </a:r>
            <a:endParaRPr lang="en-US" sz="1300" dirty="0"/>
          </a:p>
        </p:txBody>
      </p:sp>
      <p:graphicFrame>
        <p:nvGraphicFramePr>
          <p:cNvPr id="21" name="Chart 0" descr=""/>
          <p:cNvGraphicFramePr/>
          <p:nvPr/>
        </p:nvGraphicFramePr>
        <p:xfrm>
          <a:off x="457200" y="301752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63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Average gross margin % by store</a:t>
            </a:r>
            <a:endParaRPr lang="en-US" sz="1300" dirty="0"/>
          </a:p>
        </p:txBody>
      </p:sp>
      <p:graphicFrame>
        <p:nvGraphicFramePr>
          <p:cNvPr id="23" name="Chart 1" descr=""/>
          <p:cNvGraphicFramePr/>
          <p:nvPr/>
        </p:nvGraphicFramePr>
        <p:xfrm>
          <a:off x="6172200" y="3017520"/>
          <a:ext cx="5486400" cy="324612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p:nvPr/>
        </p:nvSpPr>
        <p:spPr>
          <a:xfrm>
            <a:off x="548640" y="6355080"/>
            <a:ext cx="10515600" cy="274320"/>
          </a:xfrm>
          <a:prstGeom prst="rect">
            <a:avLst/>
          </a:prstGeom>
          <a:noFill/>
          <a:ln/>
        </p:spPr>
        <p:txBody>
          <a:bodyPr wrap="square" rtlCol="0" anchor="ctr"/>
          <a:lstStyle/>
          <a:p>
            <a:pPr indent="0" marL="0">
              <a:buNone/>
            </a:pPr>
            <a:r>
              <a:rPr lang="en-US" sz="850" i="1" dirty="0">
                <a:solidFill>
                  <a:srgbClr val="8A84A0"/>
                </a:solidFill>
                <a:latin typeface="Calibri" pitchFamily="34" charset="0"/>
                <a:ea typeface="Calibri" pitchFamily="34" charset="-122"/>
                <a:cs typeface="Calibri" pitchFamily="34" charset="-120"/>
              </a:rPr>
              <a:t>Chart values approximate the on-screen dashboard visuals; store ranking and proportions match the built report.</a:t>
            </a:r>
            <a:endParaRPr lang="en-US" sz="850" dirty="0"/>
          </a:p>
        </p:txBody>
      </p:sp>
      <p:sp>
        <p:nvSpPr>
          <p:cNvPr id="25"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SALES OVERVIEW  ·  STORE PERFORMANCE &amp; FINDINGS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The top revenue store is also carrying most of the returns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492240" cy="2286000"/>
        </p:xfrm>
        <a:graphic>
          <a:graphicData uri="http://schemas.openxmlformats.org/drawingml/2006/table">
            <a:tbl>
              <a:tblPr/>
              <a:tblGrid>
                <a:gridCol w="1298448"/>
                <a:gridCol w="1298448"/>
                <a:gridCol w="1298448"/>
                <a:gridCol w="1298448"/>
                <a:gridCol w="1298448"/>
              </a:tblGrid>
              <a:tr h="3810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Store</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solidFill>
                      <a:srgbClr val="241B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Net Sales (₦)</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solidFill>
                      <a:srgbClr val="241B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Units Sold</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solidFill>
                      <a:srgbClr val="241B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Returns</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solidFill>
                      <a:srgbClr val="241B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Gross Margin (₦)</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solidFill>
                      <a:srgbClr val="241B3D"/>
                    </a:solidFill>
                  </a:tcPr>
                </a:tc>
              </a:tr>
              <a:tr h="381000">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Store_04</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460,023,996.91</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300,051</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255,892</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161,758,284.24</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r>
              <a:tr h="381000">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Store_01</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364,571,437.89</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225,399</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31,991</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123,233,321.57</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r>
              <a:tr h="381000">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Store_02</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249,150,961.39</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147,283</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59,790</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85,164,531.01</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r>
              <a:tr h="381000">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Store_03</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185,780,684.35</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177,754</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83,549</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dirty="0">
                          <a:solidFill>
                            <a:srgbClr val="26203D"/>
                          </a:solidFill>
                          <a:latin typeface="Calibri" pitchFamily="34" charset="0"/>
                          <a:ea typeface="Calibri" pitchFamily="34" charset="-122"/>
                          <a:cs typeface="Calibri" pitchFamily="34" charset="-120"/>
                        </a:rPr>
                        <a:t>49,521,769.87</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r>
              <a:tr h="381000">
                <a:tc>
                  <a:txBody>
                    <a:bodyPr/>
                    <a:lstStyle/>
                    <a:p>
                      <a:pPr indent="0" marL="0">
                        <a:buNone/>
                      </a:pPr>
                      <a:r>
                        <a:rPr lang="en-US" sz="950" b="1" dirty="0">
                          <a:solidFill>
                            <a:srgbClr val="26203D"/>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b="1" dirty="0">
                          <a:solidFill>
                            <a:srgbClr val="26203D"/>
                          </a:solidFill>
                          <a:latin typeface="Calibri" pitchFamily="34" charset="0"/>
                          <a:ea typeface="Calibri" pitchFamily="34" charset="-122"/>
                          <a:cs typeface="Calibri" pitchFamily="34" charset="-120"/>
                        </a:rPr>
                        <a:t>1,259,527,080.54</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b="1" dirty="0">
                          <a:solidFill>
                            <a:srgbClr val="26203D"/>
                          </a:solidFill>
                          <a:latin typeface="Calibri" pitchFamily="34" charset="0"/>
                          <a:ea typeface="Calibri" pitchFamily="34" charset="-122"/>
                          <a:cs typeface="Calibri" pitchFamily="34" charset="-120"/>
                        </a:rPr>
                        <a:t>850,487</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b="1" dirty="0">
                          <a:solidFill>
                            <a:srgbClr val="26203D"/>
                          </a:solidFill>
                          <a:latin typeface="Calibri" pitchFamily="34" charset="0"/>
                          <a:ea typeface="Calibri" pitchFamily="34" charset="-122"/>
                          <a:cs typeface="Calibri" pitchFamily="34" charset="-120"/>
                        </a:rPr>
                        <a:t>431,222</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c>
                  <a:txBody>
                    <a:bodyPr/>
                    <a:lstStyle/>
                    <a:p>
                      <a:pPr indent="0" marL="0">
                        <a:buNone/>
                      </a:pPr>
                      <a:r>
                        <a:rPr lang="en-US" sz="950" b="1" dirty="0">
                          <a:solidFill>
                            <a:srgbClr val="26203D"/>
                          </a:solidFill>
                          <a:latin typeface="Calibri" pitchFamily="34" charset="0"/>
                          <a:ea typeface="Calibri" pitchFamily="34" charset="-122"/>
                          <a:cs typeface="Calibri" pitchFamily="34" charset="-120"/>
                        </a:rPr>
                        <a:t>419,677,906.69</a:t>
                      </a:r>
                      <a:endParaRPr lang="en-US" sz="950" dirty="0">
                        <a:latin typeface="Calibri" charset="0"/>
                        <a:ea typeface="Calibri" charset="0"/>
                        <a:cs typeface="Calibri" charset="0"/>
                      </a:endParaRPr>
                    </a:p>
                  </a:txBody>
                  <a:tcPr marL="91440" marR="91440" marT="45720" marB="45720" anchor="ctr">
                    <a:lnL w="12700" cap="flat" cmpd="sng" algn="ctr">
                      <a:solidFill>
                        <a:srgbClr val="E1DEF2"/>
                      </a:solidFill>
                      <a:prstDash val="solid"/>
                      <a:round/>
                      <a:headEnd type="none" w="med" len="med"/>
                      <a:tailEnd type="none" w="med" len="med"/>
                    </a:lnL>
                    <a:lnR w="12700" cap="flat" cmpd="sng" algn="ctr">
                      <a:solidFill>
                        <a:srgbClr val="E1DEF2"/>
                      </a:solidFill>
                      <a:prstDash val="solid"/>
                      <a:round/>
                      <a:headEnd type="none" w="med" len="med"/>
                      <a:tailEnd type="none" w="med" len="med"/>
                    </a:lnR>
                    <a:lnT w="12700" cap="flat" cmpd="sng" algn="ctr">
                      <a:solidFill>
                        <a:srgbClr val="E1DEF2"/>
                      </a:solidFill>
                      <a:prstDash val="solid"/>
                      <a:round/>
                      <a:headEnd type="none" w="med" len="med"/>
                      <a:tailEnd type="none" w="med" len="med"/>
                    </a:lnT>
                    <a:lnB w="12700" cap="flat" cmpd="sng" algn="ctr">
                      <a:solidFill>
                        <a:srgbClr val="E1DEF2"/>
                      </a:solidFill>
                      <a:prstDash val="solid"/>
                      <a:round/>
                      <a:headEnd type="none" w="med" len="med"/>
                      <a:tailEnd type="none" w="med" len="med"/>
                    </a:lnB>
                  </a:tcPr>
                </a:tc>
              </a:tr>
            </a:tbl>
          </a:graphicData>
        </a:graphic>
      </p:graphicFrame>
      <p:sp>
        <p:nvSpPr>
          <p:cNvPr id="5" name="Text 2"/>
          <p:cNvSpPr/>
          <p:nvPr/>
        </p:nvSpPr>
        <p:spPr>
          <a:xfrm>
            <a:off x="548640" y="3977640"/>
            <a:ext cx="649224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What the numbers show</a:t>
            </a:r>
            <a:endParaRPr lang="en-US" sz="1300" dirty="0"/>
          </a:p>
        </p:txBody>
      </p:sp>
      <p:sp>
        <p:nvSpPr>
          <p:cNvPr id="6" name="Text 3"/>
          <p:cNvSpPr/>
          <p:nvPr/>
        </p:nvSpPr>
        <p:spPr>
          <a:xfrm>
            <a:off x="548640" y="4343400"/>
            <a:ext cx="6492240" cy="2011680"/>
          </a:xfrm>
          <a:prstGeom prst="rect">
            <a:avLst/>
          </a:prstGeom>
          <a:noFill/>
          <a:ln/>
        </p:spPr>
        <p:txBody>
          <a:bodyPr wrap="square" rtlCol="0" anchor="ctr"/>
          <a:lstStyle/>
          <a:p>
            <a:pPr marL="342900" indent="-342900">
              <a:lnSpc>
                <a:spcPct val="120000"/>
              </a:lnSpc>
              <a:spcAft>
                <a:spcPts val="800"/>
              </a:spcAft>
              <a:buSzPct val="100000"/>
              <a:buChar char="•"/>
            </a:pPr>
            <a:r>
              <a:rPr lang="en-US" sz="1050" dirty="0">
                <a:solidFill>
                  <a:srgbClr val="5B5470"/>
                </a:solidFill>
                <a:latin typeface="Calibri" pitchFamily="34" charset="0"/>
                <a:ea typeface="Calibri" pitchFamily="34" charset="-122"/>
                <a:cs typeface="Calibri" pitchFamily="34" charset="-120"/>
              </a:rPr>
              <a:t>Store_04 leads on revenue (460M), units and margin %, but also logs 255,892 returns — 59% of the chain's total returns from one store.</a:t>
            </a:r>
            <a:endParaRPr lang="en-US" sz="1050" dirty="0"/>
          </a:p>
          <a:p>
            <a:pPr marL="342900" indent="-342900">
              <a:lnSpc>
                <a:spcPct val="120000"/>
              </a:lnSpc>
              <a:spcAft>
                <a:spcPts val="800"/>
              </a:spcAft>
              <a:buSzPct val="100000"/>
              <a:buChar char="•"/>
            </a:pPr>
            <a:r>
              <a:rPr lang="en-US" sz="1050" dirty="0">
                <a:solidFill>
                  <a:srgbClr val="5B5470"/>
                </a:solidFill>
                <a:latin typeface="Calibri" pitchFamily="34" charset="0"/>
                <a:ea typeface="Calibri" pitchFamily="34" charset="-122"/>
                <a:cs typeface="Calibri" pitchFamily="34" charset="-120"/>
              </a:rPr>
              <a:t>Store_01 is the healthiest ratio: strong revenue (365M) with the lowest return count of any store (31,991).</a:t>
            </a:r>
            <a:endParaRPr lang="en-US" sz="1050" dirty="0"/>
          </a:p>
          <a:p>
            <a:pPr marL="342900" indent="-342900">
              <a:lnSpc>
                <a:spcPct val="120000"/>
              </a:lnSpc>
              <a:spcAft>
                <a:spcPts val="800"/>
              </a:spcAft>
              <a:buSzPct val="100000"/>
              <a:buChar char="•"/>
            </a:pPr>
            <a:r>
              <a:rPr lang="en-US" sz="1050" dirty="0">
                <a:solidFill>
                  <a:srgbClr val="5B5470"/>
                </a:solidFill>
                <a:latin typeface="Calibri" pitchFamily="34" charset="0"/>
                <a:ea typeface="Calibri" pitchFamily="34" charset="-122"/>
                <a:cs typeface="Calibri" pitchFamily="34" charset="-120"/>
              </a:rPr>
              <a:t>Store_03 sells the fewest units and the lowest revenue, but returns (83,549) are still high relative to its sales volume.</a:t>
            </a:r>
            <a:endParaRPr lang="en-US" sz="1050" dirty="0"/>
          </a:p>
          <a:p>
            <a:pPr marL="342900" indent="-342900">
              <a:lnSpc>
                <a:spcPct val="120000"/>
              </a:lnSpc>
              <a:spcAft>
                <a:spcPts val="800"/>
              </a:spcAft>
              <a:buSzPct val="100000"/>
              <a:buChar char="•"/>
            </a:pPr>
            <a:r>
              <a:rPr lang="en-US" sz="1050" dirty="0">
                <a:solidFill>
                  <a:srgbClr val="5B5470"/>
                </a:solidFill>
                <a:latin typeface="Calibri" pitchFamily="34" charset="0"/>
                <a:ea typeface="Calibri" pitchFamily="34" charset="-122"/>
                <a:cs typeface="Calibri" pitchFamily="34" charset="-120"/>
              </a:rPr>
              <a:t>Cosmetics is the single largest category at 18.17% of revenue (130.07M); the next seven categories are fairly evenly split between 7-12%.</a:t>
            </a:r>
            <a:endParaRPr lang="en-US" sz="1050" dirty="0"/>
          </a:p>
        </p:txBody>
      </p:sp>
      <p:sp>
        <p:nvSpPr>
          <p:cNvPr id="7" name="Shape 4"/>
          <p:cNvSpPr/>
          <p:nvPr/>
        </p:nvSpPr>
        <p:spPr>
          <a:xfrm>
            <a:off x="7315200" y="1508760"/>
            <a:ext cx="4297680" cy="4846320"/>
          </a:xfrm>
          <a:prstGeom prst="roundRect">
            <a:avLst>
              <a:gd name="adj" fmla="val 1702"/>
            </a:avLst>
          </a:prstGeom>
          <a:solidFill>
            <a:srgbClr val="EDEAFB"/>
          </a:solidFill>
          <a:ln/>
        </p:spPr>
      </p:sp>
      <p:sp>
        <p:nvSpPr>
          <p:cNvPr id="8" name="Text 5"/>
          <p:cNvSpPr/>
          <p:nvPr/>
        </p:nvSpPr>
        <p:spPr>
          <a:xfrm>
            <a:off x="7589520" y="1737360"/>
            <a:ext cx="3749040" cy="274320"/>
          </a:xfrm>
          <a:prstGeom prst="rect">
            <a:avLst/>
          </a:prstGeom>
          <a:noFill/>
          <a:ln/>
        </p:spPr>
        <p:txBody>
          <a:bodyPr wrap="square" rtlCol="0" anchor="ctr"/>
          <a:lstStyle/>
          <a:p>
            <a:pPr indent="0" marL="0">
              <a:buNone/>
            </a:pPr>
            <a:r>
              <a:rPr lang="en-US" sz="1050" b="1" spc="150" kern="0" dirty="0">
                <a:solidFill>
                  <a:srgbClr val="6C5CE0"/>
                </a:solidFill>
                <a:latin typeface="Calibri" pitchFamily="34" charset="0"/>
                <a:ea typeface="Calibri" pitchFamily="34" charset="-122"/>
                <a:cs typeface="Calibri" pitchFamily="34" charset="-120"/>
              </a:rPr>
              <a:t>RECOMMENDATION</a:t>
            </a:r>
            <a:endParaRPr lang="en-US" sz="1050" dirty="0"/>
          </a:p>
        </p:txBody>
      </p:sp>
      <p:sp>
        <p:nvSpPr>
          <p:cNvPr id="9" name="Text 6"/>
          <p:cNvSpPr/>
          <p:nvPr/>
        </p:nvSpPr>
        <p:spPr>
          <a:xfrm>
            <a:off x="7589520" y="2011680"/>
            <a:ext cx="3749040" cy="502920"/>
          </a:xfrm>
          <a:prstGeom prst="rect">
            <a:avLst/>
          </a:prstGeom>
          <a:noFill/>
          <a:ln/>
        </p:spPr>
        <p:txBody>
          <a:bodyPr wrap="square" rtlCol="0" anchor="ctr"/>
          <a:lstStyle/>
          <a:p>
            <a:pPr indent="0" marL="0">
              <a:buNone/>
            </a:pPr>
            <a:r>
              <a:rPr lang="en-US" sz="1500" b="1" dirty="0">
                <a:solidFill>
                  <a:srgbClr val="26203D"/>
                </a:solidFill>
                <a:latin typeface="Century Gothic" pitchFamily="34" charset="0"/>
                <a:ea typeface="Century Gothic" pitchFamily="34" charset="-122"/>
                <a:cs typeface="Century Gothic" pitchFamily="34" charset="-120"/>
              </a:rPr>
              <a:t>Audit Store_04's return process</a:t>
            </a:r>
            <a:endParaRPr lang="en-US" sz="1500" dirty="0"/>
          </a:p>
        </p:txBody>
      </p:sp>
      <p:sp>
        <p:nvSpPr>
          <p:cNvPr id="10" name="Text 7"/>
          <p:cNvSpPr/>
          <p:nvPr/>
        </p:nvSpPr>
        <p:spPr>
          <a:xfrm>
            <a:off x="7589520" y="2606040"/>
            <a:ext cx="3749040" cy="128016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A return rate this concentrated points to a store-specific cause rather than a product defect spread evenly across the chain — check whether it's a receiving/QC issue, a specific supplier line, or a till-level process gap.</a:t>
            </a:r>
            <a:endParaRPr lang="en-US" sz="1050" dirty="0"/>
          </a:p>
        </p:txBody>
      </p:sp>
      <p:sp>
        <p:nvSpPr>
          <p:cNvPr id="11" name="Shape 8"/>
          <p:cNvSpPr/>
          <p:nvPr/>
        </p:nvSpPr>
        <p:spPr>
          <a:xfrm>
            <a:off x="7589520" y="4023360"/>
            <a:ext cx="3749040" cy="0"/>
          </a:xfrm>
          <a:prstGeom prst="line">
            <a:avLst/>
          </a:prstGeom>
          <a:noFill/>
          <a:ln w="9525">
            <a:solidFill>
              <a:srgbClr val="8B7FD6"/>
            </a:solidFill>
            <a:prstDash val="dash"/>
          </a:ln>
        </p:spPr>
      </p:sp>
      <p:sp>
        <p:nvSpPr>
          <p:cNvPr id="12" name="Text 9"/>
          <p:cNvSpPr/>
          <p:nvPr/>
        </p:nvSpPr>
        <p:spPr>
          <a:xfrm>
            <a:off x="7589520" y="4206240"/>
            <a:ext cx="3749040" cy="274320"/>
          </a:xfrm>
          <a:prstGeom prst="rect">
            <a:avLst/>
          </a:prstGeom>
          <a:noFill/>
          <a:ln/>
        </p:spPr>
        <p:txBody>
          <a:bodyPr wrap="square" rtlCol="0" anchor="ctr"/>
          <a:lstStyle/>
          <a:p>
            <a:pPr indent="0" marL="0">
              <a:buNone/>
            </a:pPr>
            <a:r>
              <a:rPr lang="en-US" sz="1050" b="1" spc="150" kern="0" dirty="0">
                <a:solidFill>
                  <a:srgbClr val="6C5CE0"/>
                </a:solidFill>
                <a:latin typeface="Calibri" pitchFamily="34" charset="0"/>
                <a:ea typeface="Calibri" pitchFamily="34" charset="-122"/>
                <a:cs typeface="Calibri" pitchFamily="34" charset="-120"/>
              </a:rPr>
              <a:t>RECOMMENDATION</a:t>
            </a:r>
            <a:endParaRPr lang="en-US" sz="1050" dirty="0"/>
          </a:p>
        </p:txBody>
      </p:sp>
      <p:sp>
        <p:nvSpPr>
          <p:cNvPr id="13" name="Text 10"/>
          <p:cNvSpPr/>
          <p:nvPr/>
        </p:nvSpPr>
        <p:spPr>
          <a:xfrm>
            <a:off x="7589520" y="4480560"/>
            <a:ext cx="3749040" cy="502920"/>
          </a:xfrm>
          <a:prstGeom prst="rect">
            <a:avLst/>
          </a:prstGeom>
          <a:noFill/>
          <a:ln/>
        </p:spPr>
        <p:txBody>
          <a:bodyPr wrap="square" rtlCol="0" anchor="ctr"/>
          <a:lstStyle/>
          <a:p>
            <a:pPr indent="0" marL="0">
              <a:buNone/>
            </a:pPr>
            <a:r>
              <a:rPr lang="en-US" sz="1500" b="1" dirty="0">
                <a:solidFill>
                  <a:srgbClr val="26203D"/>
                </a:solidFill>
                <a:latin typeface="Century Gothic" pitchFamily="34" charset="0"/>
                <a:ea typeface="Century Gothic" pitchFamily="34" charset="-122"/>
                <a:cs typeface="Century Gothic" pitchFamily="34" charset="-120"/>
              </a:rPr>
              <a:t>Use Store_01 as the internal benchmark</a:t>
            </a:r>
            <a:endParaRPr lang="en-US" sz="1500" dirty="0"/>
          </a:p>
        </p:txBody>
      </p:sp>
      <p:sp>
        <p:nvSpPr>
          <p:cNvPr id="14" name="Text 11"/>
          <p:cNvSpPr/>
          <p:nvPr/>
        </p:nvSpPr>
        <p:spPr>
          <a:xfrm>
            <a:off x="7589520" y="5029200"/>
            <a:ext cx="3749040" cy="100584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Document what Store_01 does differently on receiving, staff training or shelf standards, and pilot it at Store_04 and Store_03.</a:t>
            </a:r>
            <a:endParaRPr lang="en-US" sz="1050" dirty="0"/>
          </a:p>
        </p:txBody>
      </p:sp>
      <p:sp>
        <p:nvSpPr>
          <p:cNvPr id="15" name="Text 1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1B3D"/>
        </a:solidFill>
      </p:bgPr>
    </p:bg>
    <p:spTree>
      <p:nvGrpSpPr>
        <p:cNvPr id="1" name=""/>
        <p:cNvGrpSpPr/>
        <p:nvPr/>
      </p:nvGrpSpPr>
      <p:grpSpPr>
        <a:xfrm>
          <a:off x="0" y="0"/>
          <a:ext cx="0" cy="0"/>
          <a:chOff x="0" y="0"/>
          <a:chExt cx="0" cy="0"/>
        </a:xfrm>
      </p:grpSpPr>
      <p:sp>
        <p:nvSpPr>
          <p:cNvPr id="2" name="Text 0"/>
          <p:cNvSpPr/>
          <p:nvPr/>
        </p:nvSpPr>
        <p:spPr>
          <a:xfrm>
            <a:off x="731520" y="2331720"/>
            <a:ext cx="7315200" cy="365760"/>
          </a:xfrm>
          <a:prstGeom prst="rect">
            <a:avLst/>
          </a:prstGeom>
          <a:noFill/>
          <a:ln/>
        </p:spPr>
        <p:txBody>
          <a:bodyPr wrap="square" rtlCol="0" anchor="ctr"/>
          <a:lstStyle/>
          <a:p>
            <a:pPr indent="0" marL="0">
              <a:buNone/>
            </a:pPr>
            <a:r>
              <a:rPr lang="en-US" sz="1300" b="1" spc="300" kern="0" dirty="0">
                <a:solidFill>
                  <a:srgbClr val="8B7FD6"/>
                </a:solidFill>
                <a:latin typeface="Calibri" pitchFamily="34" charset="0"/>
                <a:ea typeface="Calibri" pitchFamily="34" charset="-122"/>
                <a:cs typeface="Calibri" pitchFamily="34" charset="-120"/>
              </a:rPr>
              <a:t>PAGE 2 OF 4</a:t>
            </a:r>
            <a:endParaRPr lang="en-US" sz="1300" dirty="0"/>
          </a:p>
        </p:txBody>
      </p:sp>
      <p:sp>
        <p:nvSpPr>
          <p:cNvPr id="3" name="Text 1"/>
          <p:cNvSpPr/>
          <p:nvPr/>
        </p:nvSpPr>
        <p:spPr>
          <a:xfrm>
            <a:off x="731520" y="2697480"/>
            <a:ext cx="10515600" cy="1463040"/>
          </a:xfrm>
          <a:prstGeom prst="rect">
            <a:avLst/>
          </a:prstGeom>
          <a:noFill/>
          <a:ln/>
        </p:spPr>
        <p:txBody>
          <a:bodyPr wrap="square"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Inventory Snapshot</a:t>
            </a:r>
            <a:endParaRPr lang="en-US" sz="4000" dirty="0"/>
          </a:p>
        </p:txBody>
      </p:sp>
      <p:sp>
        <p:nvSpPr>
          <p:cNvPr id="4" name="Text 2"/>
          <p:cNvSpPr/>
          <p:nvPr/>
        </p:nvSpPr>
        <p:spPr>
          <a:xfrm>
            <a:off x="731520" y="3977640"/>
            <a:ext cx="9418320" cy="731520"/>
          </a:xfrm>
          <a:prstGeom prst="rect">
            <a:avLst/>
          </a:prstGeom>
          <a:noFill/>
          <a:ln/>
        </p:spPr>
        <p:txBody>
          <a:bodyPr wrap="square" rtlCol="0" anchor="ctr"/>
          <a:lstStyle/>
          <a:p>
            <a:pPr indent="0" marL="0">
              <a:buNone/>
            </a:pPr>
            <a:r>
              <a:rPr lang="en-US" sz="1500" dirty="0">
                <a:solidFill>
                  <a:srgbClr val="C9C3EA"/>
                </a:solidFill>
                <a:latin typeface="Calibri" pitchFamily="34" charset="0"/>
                <a:ea typeface="Calibri" pitchFamily="34" charset="-122"/>
                <a:cs typeface="Calibri" pitchFamily="34" charset="-120"/>
              </a:rPr>
              <a:t>Stock value, dead-stock risk and margin opportunity across the 4-store estate.</a:t>
            </a:r>
            <a:endParaRPr lang="en-US" sz="1500" dirty="0"/>
          </a:p>
        </p:txBody>
      </p:sp>
      <p:sp>
        <p:nvSpPr>
          <p:cNvPr id="5" name="Shape 3"/>
          <p:cNvSpPr/>
          <p:nvPr/>
        </p:nvSpPr>
        <p:spPr>
          <a:xfrm>
            <a:off x="731520" y="5074920"/>
            <a:ext cx="1965960" cy="502920"/>
          </a:xfrm>
          <a:prstGeom prst="roundRect">
            <a:avLst>
              <a:gd name="adj" fmla="val 10909"/>
            </a:avLst>
          </a:prstGeom>
          <a:solidFill>
            <a:srgbClr val="342A5C"/>
          </a:solidFill>
          <a:ln/>
        </p:spPr>
      </p:sp>
      <p:sp>
        <p:nvSpPr>
          <p:cNvPr id="6" name="Text 4"/>
          <p:cNvSpPr/>
          <p:nvPr/>
        </p:nvSpPr>
        <p:spPr>
          <a:xfrm>
            <a:off x="731520"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Sales Overview</a:t>
            </a:r>
            <a:endParaRPr lang="en-US" sz="1050" dirty="0"/>
          </a:p>
        </p:txBody>
      </p:sp>
      <p:sp>
        <p:nvSpPr>
          <p:cNvPr id="7" name="Shape 5"/>
          <p:cNvSpPr/>
          <p:nvPr/>
        </p:nvSpPr>
        <p:spPr>
          <a:xfrm>
            <a:off x="2807208" y="5074920"/>
            <a:ext cx="1965960" cy="502920"/>
          </a:xfrm>
          <a:prstGeom prst="roundRect">
            <a:avLst>
              <a:gd name="adj" fmla="val 10909"/>
            </a:avLst>
          </a:prstGeom>
          <a:solidFill>
            <a:srgbClr val="8B7FD6"/>
          </a:solidFill>
          <a:ln/>
        </p:spPr>
      </p:sp>
      <p:sp>
        <p:nvSpPr>
          <p:cNvPr id="8" name="Text 6"/>
          <p:cNvSpPr/>
          <p:nvPr/>
        </p:nvSpPr>
        <p:spPr>
          <a:xfrm>
            <a:off x="2807208" y="507492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Inventory Snapshot</a:t>
            </a:r>
            <a:endParaRPr lang="en-US" sz="1050" dirty="0"/>
          </a:p>
        </p:txBody>
      </p:sp>
      <p:sp>
        <p:nvSpPr>
          <p:cNvPr id="9" name="Shape 7"/>
          <p:cNvSpPr/>
          <p:nvPr/>
        </p:nvSpPr>
        <p:spPr>
          <a:xfrm>
            <a:off x="4882896" y="5074920"/>
            <a:ext cx="1965960" cy="502920"/>
          </a:xfrm>
          <a:prstGeom prst="roundRect">
            <a:avLst>
              <a:gd name="adj" fmla="val 10909"/>
            </a:avLst>
          </a:prstGeom>
          <a:solidFill>
            <a:srgbClr val="342A5C"/>
          </a:solidFill>
          <a:ln/>
        </p:spPr>
      </p:sp>
      <p:sp>
        <p:nvSpPr>
          <p:cNvPr id="10" name="Text 8"/>
          <p:cNvSpPr/>
          <p:nvPr/>
        </p:nvSpPr>
        <p:spPr>
          <a:xfrm>
            <a:off x="4882896"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Customer &amp; AR</a:t>
            </a:r>
            <a:endParaRPr lang="en-US" sz="1050" dirty="0"/>
          </a:p>
        </p:txBody>
      </p:sp>
      <p:sp>
        <p:nvSpPr>
          <p:cNvPr id="11" name="Shape 9"/>
          <p:cNvSpPr/>
          <p:nvPr/>
        </p:nvSpPr>
        <p:spPr>
          <a:xfrm>
            <a:off x="6958584" y="5074920"/>
            <a:ext cx="1965960" cy="502920"/>
          </a:xfrm>
          <a:prstGeom prst="roundRect">
            <a:avLst>
              <a:gd name="adj" fmla="val 10909"/>
            </a:avLst>
          </a:prstGeom>
          <a:solidFill>
            <a:srgbClr val="342A5C"/>
          </a:solidFill>
          <a:ln/>
        </p:spPr>
      </p:sp>
      <p:sp>
        <p:nvSpPr>
          <p:cNvPr id="12" name="Text 10"/>
          <p:cNvSpPr/>
          <p:nvPr/>
        </p:nvSpPr>
        <p:spPr>
          <a:xfrm>
            <a:off x="6958584"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Vendor &amp; AP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INVENTORY SNAPSHOT  ·  KPIS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3.96bn sitting in stock — 2.07bn of it is opportunity</a:t>
            </a:r>
            <a:endParaRPr lang="en-US" sz="3000" dirty="0"/>
          </a:p>
        </p:txBody>
      </p:sp>
      <p:sp>
        <p:nvSpPr>
          <p:cNvPr id="4" name="Shape 2"/>
          <p:cNvSpPr/>
          <p:nvPr/>
        </p:nvSpPr>
        <p:spPr>
          <a:xfrm>
            <a:off x="5486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5" name="Shape 3"/>
          <p:cNvSpPr/>
          <p:nvPr/>
        </p:nvSpPr>
        <p:spPr>
          <a:xfrm>
            <a:off x="713232" y="1673352"/>
            <a:ext cx="54864" cy="630936"/>
          </a:xfrm>
          <a:prstGeom prst="rect">
            <a:avLst/>
          </a:prstGeom>
          <a:solidFill>
            <a:srgbClr val="8B7FD6"/>
          </a:solidFill>
          <a:ln/>
        </p:spPr>
      </p:sp>
      <p:sp>
        <p:nvSpPr>
          <p:cNvPr id="6" name="Text 4"/>
          <p:cNvSpPr/>
          <p:nvPr/>
        </p:nvSpPr>
        <p:spPr>
          <a:xfrm>
            <a:off x="8686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3.96bn</a:t>
            </a:r>
            <a:endParaRPr lang="en-US" sz="2200" dirty="0"/>
          </a:p>
        </p:txBody>
      </p:sp>
      <p:sp>
        <p:nvSpPr>
          <p:cNvPr id="7" name="Text 5"/>
          <p:cNvSpPr/>
          <p:nvPr/>
        </p:nvSpPr>
        <p:spPr>
          <a:xfrm>
            <a:off x="8686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RETAIL VALUE</a:t>
            </a:r>
            <a:endParaRPr lang="en-US" sz="950" dirty="0"/>
          </a:p>
        </p:txBody>
      </p:sp>
      <p:sp>
        <p:nvSpPr>
          <p:cNvPr id="8" name="Shape 6"/>
          <p:cNvSpPr/>
          <p:nvPr/>
        </p:nvSpPr>
        <p:spPr>
          <a:xfrm>
            <a:off x="32918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9" name="Shape 7"/>
          <p:cNvSpPr/>
          <p:nvPr/>
        </p:nvSpPr>
        <p:spPr>
          <a:xfrm>
            <a:off x="3456432" y="1673352"/>
            <a:ext cx="54864" cy="630936"/>
          </a:xfrm>
          <a:prstGeom prst="rect">
            <a:avLst/>
          </a:prstGeom>
          <a:solidFill>
            <a:srgbClr val="4FB6A8"/>
          </a:solidFill>
          <a:ln/>
        </p:spPr>
      </p:sp>
      <p:sp>
        <p:nvSpPr>
          <p:cNvPr id="10" name="Text 8"/>
          <p:cNvSpPr/>
          <p:nvPr/>
        </p:nvSpPr>
        <p:spPr>
          <a:xfrm>
            <a:off x="36118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1.42M</a:t>
            </a:r>
            <a:endParaRPr lang="en-US" sz="2200" dirty="0"/>
          </a:p>
        </p:txBody>
      </p:sp>
      <p:sp>
        <p:nvSpPr>
          <p:cNvPr id="11" name="Text 9"/>
          <p:cNvSpPr/>
          <p:nvPr/>
        </p:nvSpPr>
        <p:spPr>
          <a:xfrm>
            <a:off x="36118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STOCK QUANTITY</a:t>
            </a:r>
            <a:endParaRPr lang="en-US" sz="950" dirty="0"/>
          </a:p>
        </p:txBody>
      </p:sp>
      <p:sp>
        <p:nvSpPr>
          <p:cNvPr id="12" name="Shape 10"/>
          <p:cNvSpPr/>
          <p:nvPr/>
        </p:nvSpPr>
        <p:spPr>
          <a:xfrm>
            <a:off x="60350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3" name="Shape 11"/>
          <p:cNvSpPr/>
          <p:nvPr/>
        </p:nvSpPr>
        <p:spPr>
          <a:xfrm>
            <a:off x="6199632" y="1673352"/>
            <a:ext cx="54864" cy="630936"/>
          </a:xfrm>
          <a:prstGeom prst="rect">
            <a:avLst/>
          </a:prstGeom>
          <a:solidFill>
            <a:srgbClr val="E0A93E"/>
          </a:solidFill>
          <a:ln/>
        </p:spPr>
      </p:sp>
      <p:sp>
        <p:nvSpPr>
          <p:cNvPr id="14" name="Text 12"/>
          <p:cNvSpPr/>
          <p:nvPr/>
        </p:nvSpPr>
        <p:spPr>
          <a:xfrm>
            <a:off x="63550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1.89bn</a:t>
            </a:r>
            <a:endParaRPr lang="en-US" sz="2200" dirty="0"/>
          </a:p>
        </p:txBody>
      </p:sp>
      <p:sp>
        <p:nvSpPr>
          <p:cNvPr id="15" name="Text 13"/>
          <p:cNvSpPr/>
          <p:nvPr/>
        </p:nvSpPr>
        <p:spPr>
          <a:xfrm>
            <a:off x="63550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STOCK COST</a:t>
            </a:r>
            <a:endParaRPr lang="en-US" sz="950" dirty="0"/>
          </a:p>
        </p:txBody>
      </p:sp>
      <p:sp>
        <p:nvSpPr>
          <p:cNvPr id="16" name="Shape 14"/>
          <p:cNvSpPr/>
          <p:nvPr/>
        </p:nvSpPr>
        <p:spPr>
          <a:xfrm>
            <a:off x="87782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7" name="Shape 15"/>
          <p:cNvSpPr/>
          <p:nvPr/>
        </p:nvSpPr>
        <p:spPr>
          <a:xfrm>
            <a:off x="8942832" y="1673352"/>
            <a:ext cx="54864" cy="630936"/>
          </a:xfrm>
          <a:prstGeom prst="rect">
            <a:avLst/>
          </a:prstGeom>
          <a:solidFill>
            <a:srgbClr val="D8636B"/>
          </a:solidFill>
          <a:ln/>
        </p:spPr>
      </p:sp>
      <p:sp>
        <p:nvSpPr>
          <p:cNvPr id="18" name="Text 16"/>
          <p:cNvSpPr/>
          <p:nvPr/>
        </p:nvSpPr>
        <p:spPr>
          <a:xfrm>
            <a:off x="90982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2.07bn</a:t>
            </a:r>
            <a:endParaRPr lang="en-US" sz="2200" dirty="0"/>
          </a:p>
        </p:txBody>
      </p:sp>
      <p:sp>
        <p:nvSpPr>
          <p:cNvPr id="19" name="Text 17"/>
          <p:cNvSpPr/>
          <p:nvPr/>
        </p:nvSpPr>
        <p:spPr>
          <a:xfrm>
            <a:off x="90982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MARGIN OPPORTUNITY</a:t>
            </a:r>
            <a:endParaRPr lang="en-US" sz="950" dirty="0"/>
          </a:p>
        </p:txBody>
      </p:sp>
      <p:sp>
        <p:nvSpPr>
          <p:cNvPr id="20" name="Text 18"/>
          <p:cNvSpPr/>
          <p:nvPr/>
        </p:nvSpPr>
        <p:spPr>
          <a:xfrm>
            <a:off x="548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Stock value by category (₦)</a:t>
            </a:r>
            <a:endParaRPr lang="en-US" sz="1300" dirty="0"/>
          </a:p>
        </p:txBody>
      </p:sp>
      <p:graphicFrame>
        <p:nvGraphicFramePr>
          <p:cNvPr id="21" name="Chart 0" descr=""/>
          <p:cNvGraphicFramePr/>
          <p:nvPr/>
        </p:nvGraphicFramePr>
        <p:xfrm>
          <a:off x="457200" y="301752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63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Stock value by store (₦)</a:t>
            </a:r>
            <a:endParaRPr lang="en-US" sz="1300" dirty="0"/>
          </a:p>
        </p:txBody>
      </p:sp>
      <p:graphicFrame>
        <p:nvGraphicFramePr>
          <p:cNvPr id="23" name="Chart 1" descr=""/>
          <p:cNvGraphicFramePr/>
          <p:nvPr/>
        </p:nvGraphicFramePr>
        <p:xfrm>
          <a:off x="6172200" y="3017520"/>
          <a:ext cx="5486400" cy="324612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p:nvPr/>
        </p:nvSpPr>
        <p:spPr>
          <a:xfrm>
            <a:off x="548640" y="6355080"/>
            <a:ext cx="10515600" cy="274320"/>
          </a:xfrm>
          <a:prstGeom prst="rect">
            <a:avLst/>
          </a:prstGeom>
          <a:noFill/>
          <a:ln/>
        </p:spPr>
        <p:txBody>
          <a:bodyPr wrap="square" rtlCol="0" anchor="ctr"/>
          <a:lstStyle/>
          <a:p>
            <a:pPr indent="0" marL="0">
              <a:buNone/>
            </a:pPr>
            <a:r>
              <a:rPr lang="en-US" sz="850" i="1" dirty="0">
                <a:solidFill>
                  <a:srgbClr val="8A84A0"/>
                </a:solidFill>
                <a:latin typeface="Calibri" pitchFamily="34" charset="0"/>
                <a:ea typeface="Calibri" pitchFamily="34" charset="-122"/>
                <a:cs typeface="Calibri" pitchFamily="34" charset="-120"/>
              </a:rPr>
              <a:t>Chart values approximate the on-screen dashboard visuals; category and store ranking match the built report.</a:t>
            </a:r>
            <a:endParaRPr lang="en-US" sz="850" dirty="0"/>
          </a:p>
        </p:txBody>
      </p:sp>
      <p:sp>
        <p:nvSpPr>
          <p:cNvPr id="25"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INVENTORY SNAPSHOT  ·  FINDINGS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Two risks hiding inside the stock numbers</a:t>
            </a:r>
            <a:endParaRPr lang="en-US" sz="3000" dirty="0"/>
          </a:p>
        </p:txBody>
      </p:sp>
      <p:sp>
        <p:nvSpPr>
          <p:cNvPr id="4" name="Shape 2"/>
          <p:cNvSpPr/>
          <p:nvPr/>
        </p:nvSpPr>
        <p:spPr>
          <a:xfrm>
            <a:off x="548640" y="1554480"/>
            <a:ext cx="5257800" cy="2331720"/>
          </a:xfrm>
          <a:prstGeom prst="roundRect">
            <a:avLst>
              <a:gd name="adj" fmla="val 3137"/>
            </a:avLst>
          </a:prstGeom>
          <a:solidFill>
            <a:srgbClr val="F7F6FC"/>
          </a:solidFill>
          <a:ln w="12700">
            <a:solidFill>
              <a:srgbClr val="E1DEF2"/>
            </a:solidFill>
            <a:prstDash val="solid"/>
          </a:ln>
        </p:spPr>
      </p:sp>
      <p:sp>
        <p:nvSpPr>
          <p:cNvPr id="5" name="Text 3"/>
          <p:cNvSpPr/>
          <p:nvPr/>
        </p:nvSpPr>
        <p:spPr>
          <a:xfrm>
            <a:off x="822960" y="1737360"/>
            <a:ext cx="4663440" cy="274320"/>
          </a:xfrm>
          <a:prstGeom prst="rect">
            <a:avLst/>
          </a:prstGeom>
          <a:noFill/>
          <a:ln/>
        </p:spPr>
        <p:txBody>
          <a:bodyPr wrap="square" rtlCol="0" anchor="ctr"/>
          <a:lstStyle/>
          <a:p>
            <a:pPr indent="0" marL="0">
              <a:buNone/>
            </a:pPr>
            <a:r>
              <a:rPr lang="en-US" sz="1050" b="1" spc="150" kern="0" dirty="0">
                <a:solidFill>
                  <a:srgbClr val="D8636B"/>
                </a:solidFill>
                <a:latin typeface="Calibri" pitchFamily="34" charset="0"/>
                <a:ea typeface="Calibri" pitchFamily="34" charset="-122"/>
                <a:cs typeface="Calibri" pitchFamily="34" charset="-120"/>
              </a:rPr>
              <a:t>DEAD-STOCK RISK</a:t>
            </a:r>
            <a:endParaRPr lang="en-US" sz="1050" dirty="0"/>
          </a:p>
        </p:txBody>
      </p:sp>
      <p:sp>
        <p:nvSpPr>
          <p:cNvPr id="6" name="Text 4"/>
          <p:cNvSpPr/>
          <p:nvPr/>
        </p:nvSpPr>
        <p:spPr>
          <a:xfrm>
            <a:off x="822960" y="2011680"/>
            <a:ext cx="4709160" cy="685800"/>
          </a:xfrm>
          <a:prstGeom prst="rect">
            <a:avLst/>
          </a:prstGeom>
          <a:noFill/>
          <a:ln/>
        </p:spPr>
        <p:txBody>
          <a:bodyPr wrap="square" rtlCol="0" anchor="ctr"/>
          <a:lstStyle/>
          <a:p>
            <a:pPr indent="0" marL="0">
              <a:buNone/>
            </a:pPr>
            <a:r>
              <a:rPr lang="en-US" sz="1400" b="1" dirty="0">
                <a:solidFill>
                  <a:srgbClr val="26203D"/>
                </a:solidFill>
                <a:latin typeface="Century Gothic" pitchFamily="34" charset="0"/>
                <a:ea typeface="Century Gothic" pitchFamily="34" charset="-122"/>
                <a:cs typeface="Century Gothic" pitchFamily="34" charset="-120"/>
              </a:rPr>
              <a:t>"Dear She Vaseline" is overstocked far beyond demand</a:t>
            </a:r>
            <a:endParaRPr lang="en-US" sz="1400" dirty="0"/>
          </a:p>
        </p:txBody>
      </p:sp>
      <p:sp>
        <p:nvSpPr>
          <p:cNvPr id="7" name="Text 5"/>
          <p:cNvSpPr/>
          <p:nvPr/>
        </p:nvSpPr>
        <p:spPr>
          <a:xfrm>
            <a:off x="822960" y="2697480"/>
            <a:ext cx="4709160" cy="109728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The Slowest-Moving Product visual shows its weeks-of-supply figure dwarfing every other SKU on the list — the next closest products (Side Fancy Bag, Sunshine Orange/Black/Lime) are barely visible on the same axis, meaning capital is parked in one product line instead of turning over.</a:t>
            </a:r>
            <a:endParaRPr lang="en-US" sz="1050" dirty="0"/>
          </a:p>
        </p:txBody>
      </p:sp>
      <p:sp>
        <p:nvSpPr>
          <p:cNvPr id="8" name="Shape 6"/>
          <p:cNvSpPr/>
          <p:nvPr/>
        </p:nvSpPr>
        <p:spPr>
          <a:xfrm>
            <a:off x="5989320" y="1554480"/>
            <a:ext cx="5349240" cy="2331720"/>
          </a:xfrm>
          <a:prstGeom prst="roundRect">
            <a:avLst>
              <a:gd name="adj" fmla="val 3137"/>
            </a:avLst>
          </a:prstGeom>
          <a:solidFill>
            <a:srgbClr val="F7F6FC"/>
          </a:solidFill>
          <a:ln w="12700">
            <a:solidFill>
              <a:srgbClr val="E1DEF2"/>
            </a:solidFill>
            <a:prstDash val="solid"/>
          </a:ln>
        </p:spPr>
      </p:sp>
      <p:sp>
        <p:nvSpPr>
          <p:cNvPr id="9" name="Text 7"/>
          <p:cNvSpPr/>
          <p:nvPr/>
        </p:nvSpPr>
        <p:spPr>
          <a:xfrm>
            <a:off x="6263640" y="1737360"/>
            <a:ext cx="4754880" cy="274320"/>
          </a:xfrm>
          <a:prstGeom prst="rect">
            <a:avLst/>
          </a:prstGeom>
          <a:noFill/>
          <a:ln/>
        </p:spPr>
        <p:txBody>
          <a:bodyPr wrap="square" rtlCol="0" anchor="ctr"/>
          <a:lstStyle/>
          <a:p>
            <a:pPr indent="0" marL="0">
              <a:buNone/>
            </a:pPr>
            <a:r>
              <a:rPr lang="en-US" sz="1050" b="1" spc="150" kern="0" dirty="0">
                <a:solidFill>
                  <a:srgbClr val="D8636B"/>
                </a:solidFill>
                <a:latin typeface="Calibri" pitchFamily="34" charset="0"/>
                <a:ea typeface="Calibri" pitchFamily="34" charset="-122"/>
                <a:cs typeface="Calibri" pitchFamily="34" charset="-120"/>
              </a:rPr>
              <a:t>DATA QUALITY FLAG</a:t>
            </a:r>
            <a:endParaRPr lang="en-US" sz="1050" dirty="0"/>
          </a:p>
        </p:txBody>
      </p:sp>
      <p:sp>
        <p:nvSpPr>
          <p:cNvPr id="10" name="Text 8"/>
          <p:cNvSpPr/>
          <p:nvPr/>
        </p:nvSpPr>
        <p:spPr>
          <a:xfrm>
            <a:off x="6263640" y="2011680"/>
            <a:ext cx="4754880" cy="502920"/>
          </a:xfrm>
          <a:prstGeom prst="rect">
            <a:avLst/>
          </a:prstGeom>
          <a:noFill/>
          <a:ln/>
        </p:spPr>
        <p:txBody>
          <a:bodyPr wrap="square" rtlCol="0" anchor="ctr"/>
          <a:lstStyle/>
          <a:p>
            <a:pPr indent="0" marL="0">
              <a:buNone/>
            </a:pPr>
            <a:r>
              <a:rPr lang="en-US" sz="1400" b="1" dirty="0">
                <a:solidFill>
                  <a:srgbClr val="26203D"/>
                </a:solidFill>
                <a:latin typeface="Century Gothic" pitchFamily="34" charset="0"/>
                <a:ea typeface="Century Gothic" pitchFamily="34" charset="-122"/>
                <a:cs typeface="Century Gothic" pitchFamily="34" charset="-120"/>
              </a:rPr>
              <a:t>275 SKUs are showing negative stock</a:t>
            </a:r>
            <a:endParaRPr lang="en-US" sz="1400" dirty="0"/>
          </a:p>
        </p:txBody>
      </p:sp>
      <p:sp>
        <p:nvSpPr>
          <p:cNvPr id="11" name="Text 9"/>
          <p:cNvSpPr/>
          <p:nvPr/>
        </p:nvSpPr>
        <p:spPr>
          <a:xfrm>
            <a:off x="6263640" y="2560320"/>
            <a:ext cx="4754880" cy="123444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Rather than hide this, the dashboard surfaces it directly: 275 line items sum to -123,313 units and -₦123.48M in cost value — items sold past what the system says is on the shelf, a clear POS/inventory sync gap (e.g. 24K Blen Nuit Perfume, Black Hair Cream, Model Racing Car).</a:t>
            </a:r>
            <a:endParaRPr lang="en-US" sz="1050" dirty="0"/>
          </a:p>
        </p:txBody>
      </p:sp>
      <p:sp>
        <p:nvSpPr>
          <p:cNvPr id="12" name="Text 10"/>
          <p:cNvSpPr/>
          <p:nvPr/>
        </p:nvSpPr>
        <p:spPr>
          <a:xfrm>
            <a:off x="548640" y="4160520"/>
            <a:ext cx="1051560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Recommendations</a:t>
            </a:r>
            <a:endParaRPr lang="en-US" sz="1300" dirty="0"/>
          </a:p>
        </p:txBody>
      </p:sp>
      <p:sp>
        <p:nvSpPr>
          <p:cNvPr id="13" name="Text 11"/>
          <p:cNvSpPr/>
          <p:nvPr/>
        </p:nvSpPr>
        <p:spPr>
          <a:xfrm>
            <a:off x="548640" y="4526280"/>
            <a:ext cx="10881360" cy="1828800"/>
          </a:xfrm>
          <a:prstGeom prst="rect">
            <a:avLst/>
          </a:prstGeom>
          <a:noFill/>
          <a:ln/>
        </p:spPr>
        <p:txBody>
          <a:bodyPr wrap="square" rtlCol="0" anchor="ctr"/>
          <a:lstStyle/>
          <a:p>
            <a:pPr marL="342900" indent="-342900">
              <a:lnSpc>
                <a:spcPct val="115000"/>
              </a:lnSpc>
              <a:spcAft>
                <a:spcPts val="600"/>
              </a:spcAft>
              <a:buSzPct val="100000"/>
              <a:buChar char="•"/>
            </a:pPr>
            <a:r>
              <a:rPr lang="en-US" sz="1050" dirty="0">
                <a:solidFill>
                  <a:srgbClr val="5B5470"/>
                </a:solidFill>
                <a:latin typeface="Calibri" pitchFamily="34" charset="0"/>
                <a:ea typeface="Calibri" pitchFamily="34" charset="-122"/>
                <a:cs typeface="Calibri" pitchFamily="34" charset="-120"/>
              </a:rPr>
              <a:t>Run a targeted markdown or bundle promotion on the top 5 slowest-moving SKUs to release working capital before it ages further.</a:t>
            </a:r>
            <a:endParaRPr lang="en-US" sz="1050" dirty="0"/>
          </a:p>
          <a:p>
            <a:pPr marL="342900" indent="-342900">
              <a:lnSpc>
                <a:spcPct val="115000"/>
              </a:lnSpc>
              <a:spcAft>
                <a:spcPts val="600"/>
              </a:spcAft>
              <a:buSzPct val="100000"/>
              <a:buChar char="•"/>
            </a:pPr>
            <a:r>
              <a:rPr lang="en-US" sz="1050" dirty="0">
                <a:solidFill>
                  <a:srgbClr val="5B5470"/>
                </a:solidFill>
                <a:latin typeface="Calibri" pitchFamily="34" charset="0"/>
                <a:ea typeface="Calibri" pitchFamily="34" charset="-122"/>
                <a:cs typeface="Calibri" pitchFamily="34" charset="-120"/>
              </a:rPr>
              <a:t>Route the 275 negative-stock rows to a stock-take reconciliation before next month's close — this is a process fix, not just a report filter.</a:t>
            </a:r>
            <a:endParaRPr lang="en-US" sz="1050" dirty="0"/>
          </a:p>
          <a:p>
            <a:pPr marL="342900" indent="-342900">
              <a:lnSpc>
                <a:spcPct val="115000"/>
              </a:lnSpc>
              <a:spcAft>
                <a:spcPts val="600"/>
              </a:spcAft>
              <a:buSzPct val="100000"/>
              <a:buChar char="•"/>
            </a:pPr>
            <a:r>
              <a:rPr lang="en-US" sz="1050" dirty="0">
                <a:solidFill>
                  <a:srgbClr val="5B5470"/>
                </a:solidFill>
                <a:latin typeface="Calibri" pitchFamily="34" charset="0"/>
                <a:ea typeface="Calibri" pitchFamily="34" charset="-122"/>
                <a:cs typeface="Calibri" pitchFamily="34" charset="-120"/>
              </a:rPr>
              <a:t>Store_04 alone holds roughly a quarter of total stock value (~1.01bn) — worth a periodic stock-to-sales ratio check against its revenue share to confirm it isn't overbuying.</a:t>
            </a:r>
            <a:endParaRPr lang="en-US" sz="1050" dirty="0"/>
          </a:p>
          <a:p>
            <a:pPr marL="342900" indent="-342900">
              <a:lnSpc>
                <a:spcPct val="115000"/>
              </a:lnSpc>
              <a:spcAft>
                <a:spcPts val="600"/>
              </a:spcAft>
              <a:buSzPct val="100000"/>
              <a:buChar char="•"/>
            </a:pPr>
            <a:r>
              <a:rPr lang="en-US" sz="1050" dirty="0">
                <a:solidFill>
                  <a:srgbClr val="5B5470"/>
                </a:solidFill>
                <a:latin typeface="Calibri" pitchFamily="34" charset="0"/>
                <a:ea typeface="Calibri" pitchFamily="34" charset="-122"/>
                <a:cs typeface="Calibri" pitchFamily="34" charset="-120"/>
              </a:rPr>
              <a:t>Toiletries is by far the largest stock-value category — pair this with the Sales Overview category mix to check that stock levels track actual demand, not just historic ordering habits.</a:t>
            </a:r>
            <a:endParaRPr lang="en-US" sz="1050" dirty="0"/>
          </a:p>
        </p:txBody>
      </p:sp>
      <p:sp>
        <p:nvSpPr>
          <p:cNvPr id="14" name="Text 1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1B3D"/>
        </a:solidFill>
      </p:bgPr>
    </p:bg>
    <p:spTree>
      <p:nvGrpSpPr>
        <p:cNvPr id="1" name=""/>
        <p:cNvGrpSpPr/>
        <p:nvPr/>
      </p:nvGrpSpPr>
      <p:grpSpPr>
        <a:xfrm>
          <a:off x="0" y="0"/>
          <a:ext cx="0" cy="0"/>
          <a:chOff x="0" y="0"/>
          <a:chExt cx="0" cy="0"/>
        </a:xfrm>
      </p:grpSpPr>
      <p:sp>
        <p:nvSpPr>
          <p:cNvPr id="2" name="Text 0"/>
          <p:cNvSpPr/>
          <p:nvPr/>
        </p:nvSpPr>
        <p:spPr>
          <a:xfrm>
            <a:off x="731520" y="2331720"/>
            <a:ext cx="7315200" cy="365760"/>
          </a:xfrm>
          <a:prstGeom prst="rect">
            <a:avLst/>
          </a:prstGeom>
          <a:noFill/>
          <a:ln/>
        </p:spPr>
        <p:txBody>
          <a:bodyPr wrap="square" rtlCol="0" anchor="ctr"/>
          <a:lstStyle/>
          <a:p>
            <a:pPr indent="0" marL="0">
              <a:buNone/>
            </a:pPr>
            <a:r>
              <a:rPr lang="en-US" sz="1300" b="1" spc="300" kern="0" dirty="0">
                <a:solidFill>
                  <a:srgbClr val="8B7FD6"/>
                </a:solidFill>
                <a:latin typeface="Calibri" pitchFamily="34" charset="0"/>
                <a:ea typeface="Calibri" pitchFamily="34" charset="-122"/>
                <a:cs typeface="Calibri" pitchFamily="34" charset="-120"/>
              </a:rPr>
              <a:t>PAGE 3 OF 4</a:t>
            </a:r>
            <a:endParaRPr lang="en-US" sz="1300" dirty="0"/>
          </a:p>
        </p:txBody>
      </p:sp>
      <p:sp>
        <p:nvSpPr>
          <p:cNvPr id="3" name="Text 1"/>
          <p:cNvSpPr/>
          <p:nvPr/>
        </p:nvSpPr>
        <p:spPr>
          <a:xfrm>
            <a:off x="731520" y="2697480"/>
            <a:ext cx="10515600" cy="1463040"/>
          </a:xfrm>
          <a:prstGeom prst="rect">
            <a:avLst/>
          </a:prstGeom>
          <a:noFill/>
          <a:ln/>
        </p:spPr>
        <p:txBody>
          <a:bodyPr wrap="square"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Customer &amp; Accounts Receivable</a:t>
            </a:r>
            <a:endParaRPr lang="en-US" sz="4000" dirty="0"/>
          </a:p>
        </p:txBody>
      </p:sp>
      <p:sp>
        <p:nvSpPr>
          <p:cNvPr id="4" name="Text 2"/>
          <p:cNvSpPr/>
          <p:nvPr/>
        </p:nvSpPr>
        <p:spPr>
          <a:xfrm>
            <a:off x="731520" y="3977640"/>
            <a:ext cx="9418320" cy="731520"/>
          </a:xfrm>
          <a:prstGeom prst="rect">
            <a:avLst/>
          </a:prstGeom>
          <a:noFill/>
          <a:ln/>
        </p:spPr>
        <p:txBody>
          <a:bodyPr wrap="square" rtlCol="0" anchor="ctr"/>
          <a:lstStyle/>
          <a:p>
            <a:pPr indent="0" marL="0">
              <a:buNone/>
            </a:pPr>
            <a:r>
              <a:rPr lang="en-US" sz="1500" dirty="0">
                <a:solidFill>
                  <a:srgbClr val="C9C3EA"/>
                </a:solidFill>
                <a:latin typeface="Calibri" pitchFamily="34" charset="0"/>
                <a:ea typeface="Calibri" pitchFamily="34" charset="-122"/>
                <a:cs typeface="Calibri" pitchFamily="34" charset="-120"/>
              </a:rPr>
              <a:t>Invoicing, collections and aging — how much is owed to the business, and how fast it's coming in.</a:t>
            </a:r>
            <a:endParaRPr lang="en-US" sz="1500" dirty="0"/>
          </a:p>
        </p:txBody>
      </p:sp>
      <p:sp>
        <p:nvSpPr>
          <p:cNvPr id="5" name="Shape 3"/>
          <p:cNvSpPr/>
          <p:nvPr/>
        </p:nvSpPr>
        <p:spPr>
          <a:xfrm>
            <a:off x="731520" y="5074920"/>
            <a:ext cx="1965960" cy="502920"/>
          </a:xfrm>
          <a:prstGeom prst="roundRect">
            <a:avLst>
              <a:gd name="adj" fmla="val 10909"/>
            </a:avLst>
          </a:prstGeom>
          <a:solidFill>
            <a:srgbClr val="342A5C"/>
          </a:solidFill>
          <a:ln/>
        </p:spPr>
      </p:sp>
      <p:sp>
        <p:nvSpPr>
          <p:cNvPr id="6" name="Text 4"/>
          <p:cNvSpPr/>
          <p:nvPr/>
        </p:nvSpPr>
        <p:spPr>
          <a:xfrm>
            <a:off x="731520"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Sales Overview</a:t>
            </a:r>
            <a:endParaRPr lang="en-US" sz="1050" dirty="0"/>
          </a:p>
        </p:txBody>
      </p:sp>
      <p:sp>
        <p:nvSpPr>
          <p:cNvPr id="7" name="Shape 5"/>
          <p:cNvSpPr/>
          <p:nvPr/>
        </p:nvSpPr>
        <p:spPr>
          <a:xfrm>
            <a:off x="2807208" y="5074920"/>
            <a:ext cx="1965960" cy="502920"/>
          </a:xfrm>
          <a:prstGeom prst="roundRect">
            <a:avLst>
              <a:gd name="adj" fmla="val 10909"/>
            </a:avLst>
          </a:prstGeom>
          <a:solidFill>
            <a:srgbClr val="342A5C"/>
          </a:solidFill>
          <a:ln/>
        </p:spPr>
      </p:sp>
      <p:sp>
        <p:nvSpPr>
          <p:cNvPr id="8" name="Text 6"/>
          <p:cNvSpPr/>
          <p:nvPr/>
        </p:nvSpPr>
        <p:spPr>
          <a:xfrm>
            <a:off x="2807208"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Inventory Snapshot</a:t>
            </a:r>
            <a:endParaRPr lang="en-US" sz="1050" dirty="0"/>
          </a:p>
        </p:txBody>
      </p:sp>
      <p:sp>
        <p:nvSpPr>
          <p:cNvPr id="9" name="Shape 7"/>
          <p:cNvSpPr/>
          <p:nvPr/>
        </p:nvSpPr>
        <p:spPr>
          <a:xfrm>
            <a:off x="4882896" y="5074920"/>
            <a:ext cx="1965960" cy="502920"/>
          </a:xfrm>
          <a:prstGeom prst="roundRect">
            <a:avLst>
              <a:gd name="adj" fmla="val 10909"/>
            </a:avLst>
          </a:prstGeom>
          <a:solidFill>
            <a:srgbClr val="8B7FD6"/>
          </a:solidFill>
          <a:ln/>
        </p:spPr>
      </p:sp>
      <p:sp>
        <p:nvSpPr>
          <p:cNvPr id="10" name="Text 8"/>
          <p:cNvSpPr/>
          <p:nvPr/>
        </p:nvSpPr>
        <p:spPr>
          <a:xfrm>
            <a:off x="4882896" y="507492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Customer &amp; AR</a:t>
            </a:r>
            <a:endParaRPr lang="en-US" sz="1050" dirty="0"/>
          </a:p>
        </p:txBody>
      </p:sp>
      <p:sp>
        <p:nvSpPr>
          <p:cNvPr id="11" name="Shape 9"/>
          <p:cNvSpPr/>
          <p:nvPr/>
        </p:nvSpPr>
        <p:spPr>
          <a:xfrm>
            <a:off x="6958584" y="5074920"/>
            <a:ext cx="1965960" cy="502920"/>
          </a:xfrm>
          <a:prstGeom prst="roundRect">
            <a:avLst>
              <a:gd name="adj" fmla="val 10909"/>
            </a:avLst>
          </a:prstGeom>
          <a:solidFill>
            <a:srgbClr val="342A5C"/>
          </a:solidFill>
          <a:ln/>
        </p:spPr>
      </p:sp>
      <p:sp>
        <p:nvSpPr>
          <p:cNvPr id="12" name="Text 10"/>
          <p:cNvSpPr/>
          <p:nvPr/>
        </p:nvSpPr>
        <p:spPr>
          <a:xfrm>
            <a:off x="6958584"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Vendor &amp; AP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ACCOUNTS RECEIVABLE  ·  KPIS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3.78bn invoiced, and 90% of it collected by bank transfer</a:t>
            </a:r>
            <a:endParaRPr lang="en-US" sz="3000" dirty="0"/>
          </a:p>
        </p:txBody>
      </p:sp>
      <p:sp>
        <p:nvSpPr>
          <p:cNvPr id="4" name="Shape 2"/>
          <p:cNvSpPr/>
          <p:nvPr/>
        </p:nvSpPr>
        <p:spPr>
          <a:xfrm>
            <a:off x="5486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5" name="Shape 3"/>
          <p:cNvSpPr/>
          <p:nvPr/>
        </p:nvSpPr>
        <p:spPr>
          <a:xfrm>
            <a:off x="713232" y="1673352"/>
            <a:ext cx="54864" cy="630936"/>
          </a:xfrm>
          <a:prstGeom prst="rect">
            <a:avLst/>
          </a:prstGeom>
          <a:solidFill>
            <a:srgbClr val="8B7FD6"/>
          </a:solidFill>
          <a:ln/>
        </p:spPr>
      </p:sp>
      <p:sp>
        <p:nvSpPr>
          <p:cNvPr id="6" name="Text 4"/>
          <p:cNvSpPr/>
          <p:nvPr/>
        </p:nvSpPr>
        <p:spPr>
          <a:xfrm>
            <a:off x="8686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3.78bn</a:t>
            </a:r>
            <a:endParaRPr lang="en-US" sz="2200" dirty="0"/>
          </a:p>
        </p:txBody>
      </p:sp>
      <p:sp>
        <p:nvSpPr>
          <p:cNvPr id="7" name="Text 5"/>
          <p:cNvSpPr/>
          <p:nvPr/>
        </p:nvSpPr>
        <p:spPr>
          <a:xfrm>
            <a:off x="8686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INVOICED</a:t>
            </a:r>
            <a:endParaRPr lang="en-US" sz="950" dirty="0"/>
          </a:p>
        </p:txBody>
      </p:sp>
      <p:sp>
        <p:nvSpPr>
          <p:cNvPr id="8" name="Shape 6"/>
          <p:cNvSpPr/>
          <p:nvPr/>
        </p:nvSpPr>
        <p:spPr>
          <a:xfrm>
            <a:off x="32918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9" name="Shape 7"/>
          <p:cNvSpPr/>
          <p:nvPr/>
        </p:nvSpPr>
        <p:spPr>
          <a:xfrm>
            <a:off x="3456432" y="1673352"/>
            <a:ext cx="54864" cy="630936"/>
          </a:xfrm>
          <a:prstGeom prst="rect">
            <a:avLst/>
          </a:prstGeom>
          <a:solidFill>
            <a:srgbClr val="4FB6A8"/>
          </a:solidFill>
          <a:ln/>
        </p:spPr>
      </p:sp>
      <p:sp>
        <p:nvSpPr>
          <p:cNvPr id="10" name="Text 8"/>
          <p:cNvSpPr/>
          <p:nvPr/>
        </p:nvSpPr>
        <p:spPr>
          <a:xfrm>
            <a:off x="36118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4.27M</a:t>
            </a:r>
            <a:endParaRPr lang="en-US" sz="2200" dirty="0"/>
          </a:p>
        </p:txBody>
      </p:sp>
      <p:sp>
        <p:nvSpPr>
          <p:cNvPr id="11" name="Text 9"/>
          <p:cNvSpPr/>
          <p:nvPr/>
        </p:nvSpPr>
        <p:spPr>
          <a:xfrm>
            <a:off x="36118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INVOICE LINES</a:t>
            </a:r>
            <a:endParaRPr lang="en-US" sz="950" dirty="0"/>
          </a:p>
        </p:txBody>
      </p:sp>
      <p:sp>
        <p:nvSpPr>
          <p:cNvPr id="12" name="Shape 10"/>
          <p:cNvSpPr/>
          <p:nvPr/>
        </p:nvSpPr>
        <p:spPr>
          <a:xfrm>
            <a:off x="60350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3" name="Shape 11"/>
          <p:cNvSpPr/>
          <p:nvPr/>
        </p:nvSpPr>
        <p:spPr>
          <a:xfrm>
            <a:off x="6199632" y="1673352"/>
            <a:ext cx="54864" cy="630936"/>
          </a:xfrm>
          <a:prstGeom prst="rect">
            <a:avLst/>
          </a:prstGeom>
          <a:solidFill>
            <a:srgbClr val="E0A93E"/>
          </a:solidFill>
          <a:ln/>
        </p:spPr>
      </p:sp>
      <p:sp>
        <p:nvSpPr>
          <p:cNvPr id="14" name="Text 12"/>
          <p:cNvSpPr/>
          <p:nvPr/>
        </p:nvSpPr>
        <p:spPr>
          <a:xfrm>
            <a:off x="63550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3.78bn</a:t>
            </a:r>
            <a:endParaRPr lang="en-US" sz="2200" dirty="0"/>
          </a:p>
        </p:txBody>
      </p:sp>
      <p:sp>
        <p:nvSpPr>
          <p:cNvPr id="15" name="Text 13"/>
          <p:cNvSpPr/>
          <p:nvPr/>
        </p:nvSpPr>
        <p:spPr>
          <a:xfrm>
            <a:off x="63550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AMOUNT RECEIVED</a:t>
            </a:r>
            <a:endParaRPr lang="en-US" sz="950" dirty="0"/>
          </a:p>
        </p:txBody>
      </p:sp>
      <p:sp>
        <p:nvSpPr>
          <p:cNvPr id="16" name="Shape 14"/>
          <p:cNvSpPr/>
          <p:nvPr/>
        </p:nvSpPr>
        <p:spPr>
          <a:xfrm>
            <a:off x="87782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7" name="Shape 15"/>
          <p:cNvSpPr/>
          <p:nvPr/>
        </p:nvSpPr>
        <p:spPr>
          <a:xfrm>
            <a:off x="8942832" y="1673352"/>
            <a:ext cx="54864" cy="630936"/>
          </a:xfrm>
          <a:prstGeom prst="rect">
            <a:avLst/>
          </a:prstGeom>
          <a:solidFill>
            <a:srgbClr val="D8636B"/>
          </a:solidFill>
          <a:ln/>
        </p:spPr>
      </p:sp>
      <p:sp>
        <p:nvSpPr>
          <p:cNvPr id="18" name="Text 16"/>
          <p:cNvSpPr/>
          <p:nvPr/>
        </p:nvSpPr>
        <p:spPr>
          <a:xfrm>
            <a:off x="90982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₦200</a:t>
            </a:r>
            <a:endParaRPr lang="en-US" sz="2200" dirty="0"/>
          </a:p>
        </p:txBody>
      </p:sp>
      <p:sp>
        <p:nvSpPr>
          <p:cNvPr id="19" name="Text 17"/>
          <p:cNvSpPr/>
          <p:nvPr/>
        </p:nvSpPr>
        <p:spPr>
          <a:xfrm>
            <a:off x="90982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UNAPPLIED</a:t>
            </a:r>
            <a:endParaRPr lang="en-US" sz="950" dirty="0"/>
          </a:p>
        </p:txBody>
      </p:sp>
      <p:sp>
        <p:nvSpPr>
          <p:cNvPr id="20" name="Text 18"/>
          <p:cNvSpPr/>
          <p:nvPr/>
        </p:nvSpPr>
        <p:spPr>
          <a:xfrm>
            <a:off x="548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Amount received by payment method</a:t>
            </a:r>
            <a:endParaRPr lang="en-US" sz="1300" dirty="0"/>
          </a:p>
        </p:txBody>
      </p:sp>
      <p:graphicFrame>
        <p:nvGraphicFramePr>
          <p:cNvPr id="21" name="Chart 0" descr=""/>
          <p:cNvGraphicFramePr/>
          <p:nvPr/>
        </p:nvGraphicFramePr>
        <p:xfrm>
          <a:off x="548640" y="3017520"/>
          <a:ext cx="5303520" cy="31089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63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Cash collection trend (Jan – Aug)</a:t>
            </a:r>
            <a:endParaRPr lang="en-US" sz="1300" dirty="0"/>
          </a:p>
        </p:txBody>
      </p:sp>
      <p:graphicFrame>
        <p:nvGraphicFramePr>
          <p:cNvPr id="23" name="Chart 1" descr=""/>
          <p:cNvGraphicFramePr/>
          <p:nvPr/>
        </p:nvGraphicFramePr>
        <p:xfrm>
          <a:off x="6172200" y="3017520"/>
          <a:ext cx="5486400" cy="324612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p:nvPr/>
        </p:nvSpPr>
        <p:spPr>
          <a:xfrm>
            <a:off x="548640" y="6355080"/>
            <a:ext cx="10515600" cy="274320"/>
          </a:xfrm>
          <a:prstGeom prst="rect">
            <a:avLst/>
          </a:prstGeom>
          <a:noFill/>
          <a:ln/>
        </p:spPr>
        <p:txBody>
          <a:bodyPr wrap="square" rtlCol="0" anchor="ctr"/>
          <a:lstStyle/>
          <a:p>
            <a:pPr indent="0" marL="0">
              <a:buNone/>
            </a:pPr>
            <a:r>
              <a:rPr lang="en-US" sz="850" i="1" dirty="0">
                <a:solidFill>
                  <a:srgbClr val="8A84A0"/>
                </a:solidFill>
                <a:latin typeface="Calibri" pitchFamily="34" charset="0"/>
                <a:ea typeface="Calibri" pitchFamily="34" charset="-122"/>
                <a:cs typeface="Calibri" pitchFamily="34" charset="-120"/>
              </a:rPr>
              <a:t>Chart values approximate the on-screen dashboard visuals; trend shape and August dip match the built report.</a:t>
            </a:r>
            <a:endParaRPr lang="en-US" sz="850" dirty="0"/>
          </a:p>
        </p:txBody>
      </p:sp>
      <p:sp>
        <p:nvSpPr>
          <p:cNvPr id="25"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ACCOUNTS RECEIVABLE  ·  FINDINGS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Collections are healthy, but concentration risk is building</a:t>
            </a:r>
            <a:endParaRPr lang="en-US" sz="3000" dirty="0"/>
          </a:p>
        </p:txBody>
      </p:sp>
      <p:sp>
        <p:nvSpPr>
          <p:cNvPr id="4" name="Text 2"/>
          <p:cNvSpPr/>
          <p:nvPr/>
        </p:nvSpPr>
        <p:spPr>
          <a:xfrm>
            <a:off x="548640" y="1508760"/>
            <a:ext cx="649224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What the numbers show</a:t>
            </a:r>
            <a:endParaRPr lang="en-US" sz="1300" dirty="0"/>
          </a:p>
        </p:txBody>
      </p:sp>
      <p:sp>
        <p:nvSpPr>
          <p:cNvPr id="5" name="Text 3"/>
          <p:cNvSpPr/>
          <p:nvPr/>
        </p:nvSpPr>
        <p:spPr>
          <a:xfrm>
            <a:off x="548640" y="1874520"/>
            <a:ext cx="6492240" cy="3566160"/>
          </a:xfrm>
          <a:prstGeom prst="rect">
            <a:avLst/>
          </a:prstGeom>
          <a:noFill/>
          <a:ln/>
        </p:spPr>
        <p:txBody>
          <a:bodyPr wrap="square" rtlCol="0" anchor="ctr"/>
          <a:lstStyle/>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The Invoice Status Breakdown is overwhelmingly "paid," with almost nothing sitting in overdue or draft — a genuinely strong collections position for the period.</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One customer, CUS_2D5D5C86391B, dominates the Top 10 Customers by Revenue chart — every other customer is a fraction of its bar.</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89.8% of receipts come in by bank transfer versus 10.2% cash, consistent with the shift toward digital payment rails in Nigerian retail.</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The Cash Collection Trend holds close to ₦0.5bn a month from January through July, then drops sharply in August.</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The Payment Receivable Aging table shows customer CUS_A7B5597396D2 alone carrying ₦253,038 of the ₦4,267,488 total outstanding balance.</a:t>
            </a:r>
            <a:endParaRPr lang="en-US" sz="1050" dirty="0"/>
          </a:p>
        </p:txBody>
      </p:sp>
      <p:sp>
        <p:nvSpPr>
          <p:cNvPr id="6" name="Shape 4"/>
          <p:cNvSpPr/>
          <p:nvPr/>
        </p:nvSpPr>
        <p:spPr>
          <a:xfrm>
            <a:off x="7315200" y="1508760"/>
            <a:ext cx="4297680" cy="4846320"/>
          </a:xfrm>
          <a:prstGeom prst="roundRect">
            <a:avLst>
              <a:gd name="adj" fmla="val 1702"/>
            </a:avLst>
          </a:prstGeom>
          <a:solidFill>
            <a:srgbClr val="EDEAFB"/>
          </a:solidFill>
          <a:ln/>
        </p:spPr>
      </p:sp>
      <p:sp>
        <p:nvSpPr>
          <p:cNvPr id="7" name="Text 5"/>
          <p:cNvSpPr/>
          <p:nvPr/>
        </p:nvSpPr>
        <p:spPr>
          <a:xfrm>
            <a:off x="7589520" y="1737360"/>
            <a:ext cx="3749040" cy="274320"/>
          </a:xfrm>
          <a:prstGeom prst="rect">
            <a:avLst/>
          </a:prstGeom>
          <a:noFill/>
          <a:ln/>
        </p:spPr>
        <p:txBody>
          <a:bodyPr wrap="square" rtlCol="0" anchor="ctr"/>
          <a:lstStyle/>
          <a:p>
            <a:pPr indent="0" marL="0">
              <a:buNone/>
            </a:pPr>
            <a:r>
              <a:rPr lang="en-US" sz="1050" b="1" spc="150" kern="0" dirty="0">
                <a:solidFill>
                  <a:srgbClr val="6C5CE0"/>
                </a:solidFill>
                <a:latin typeface="Calibri" pitchFamily="34" charset="0"/>
                <a:ea typeface="Calibri" pitchFamily="34" charset="-122"/>
                <a:cs typeface="Calibri" pitchFamily="34" charset="-120"/>
              </a:rPr>
              <a:t>RECOMMENDATION</a:t>
            </a:r>
            <a:endParaRPr lang="en-US" sz="1050" dirty="0"/>
          </a:p>
        </p:txBody>
      </p:sp>
      <p:sp>
        <p:nvSpPr>
          <p:cNvPr id="8" name="Text 6"/>
          <p:cNvSpPr/>
          <p:nvPr/>
        </p:nvSpPr>
        <p:spPr>
          <a:xfrm>
            <a:off x="7589520" y="2011680"/>
            <a:ext cx="3749040" cy="68580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Confirm the August dip before acting on it</a:t>
            </a:r>
            <a:endParaRPr lang="en-US" sz="1450" dirty="0"/>
          </a:p>
        </p:txBody>
      </p:sp>
      <p:sp>
        <p:nvSpPr>
          <p:cNvPr id="9" name="Text 7"/>
          <p:cNvSpPr/>
          <p:nvPr/>
        </p:nvSpPr>
        <p:spPr>
          <a:xfrm>
            <a:off x="7589520" y="2697480"/>
            <a:ext cx="3749040" cy="100584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Check whether August is a partial month in the export (data cut-off) versus a real collections slowdown — the two call for very different responses.</a:t>
            </a:r>
            <a:endParaRPr lang="en-US" sz="1050" dirty="0"/>
          </a:p>
        </p:txBody>
      </p:sp>
      <p:sp>
        <p:nvSpPr>
          <p:cNvPr id="10" name="Shape 8"/>
          <p:cNvSpPr/>
          <p:nvPr/>
        </p:nvSpPr>
        <p:spPr>
          <a:xfrm>
            <a:off x="7589520" y="3794760"/>
            <a:ext cx="3749040" cy="0"/>
          </a:xfrm>
          <a:prstGeom prst="line">
            <a:avLst/>
          </a:prstGeom>
          <a:noFill/>
          <a:ln w="9525">
            <a:solidFill>
              <a:srgbClr val="8B7FD6"/>
            </a:solidFill>
            <a:prstDash val="dash"/>
          </a:ln>
        </p:spPr>
      </p:sp>
      <p:sp>
        <p:nvSpPr>
          <p:cNvPr id="11" name="Text 9"/>
          <p:cNvSpPr/>
          <p:nvPr/>
        </p:nvSpPr>
        <p:spPr>
          <a:xfrm>
            <a:off x="7589520" y="3977640"/>
            <a:ext cx="3749040" cy="274320"/>
          </a:xfrm>
          <a:prstGeom prst="rect">
            <a:avLst/>
          </a:prstGeom>
          <a:noFill/>
          <a:ln/>
        </p:spPr>
        <p:txBody>
          <a:bodyPr wrap="square" rtlCol="0" anchor="ctr"/>
          <a:lstStyle/>
          <a:p>
            <a:pPr indent="0" marL="0">
              <a:buNone/>
            </a:pPr>
            <a:r>
              <a:rPr lang="en-US" sz="1050" b="1" spc="150" kern="0" dirty="0">
                <a:solidFill>
                  <a:srgbClr val="6C5CE0"/>
                </a:solidFill>
                <a:latin typeface="Calibri" pitchFamily="34" charset="0"/>
                <a:ea typeface="Calibri" pitchFamily="34" charset="-122"/>
                <a:cs typeface="Calibri" pitchFamily="34" charset="-120"/>
              </a:rPr>
              <a:t>RECOMMENDATION</a:t>
            </a:r>
            <a:endParaRPr lang="en-US" sz="1050" dirty="0"/>
          </a:p>
        </p:txBody>
      </p:sp>
      <p:sp>
        <p:nvSpPr>
          <p:cNvPr id="12" name="Text 10"/>
          <p:cNvSpPr/>
          <p:nvPr/>
        </p:nvSpPr>
        <p:spPr>
          <a:xfrm>
            <a:off x="7589520" y="4251960"/>
            <a:ext cx="3749040" cy="50292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Watch the top-customer concentration</a:t>
            </a:r>
            <a:endParaRPr lang="en-US" sz="1450" dirty="0"/>
          </a:p>
        </p:txBody>
      </p:sp>
      <p:sp>
        <p:nvSpPr>
          <p:cNvPr id="13" name="Text 11"/>
          <p:cNvSpPr/>
          <p:nvPr/>
        </p:nvSpPr>
        <p:spPr>
          <a:xfrm>
            <a:off x="7589520" y="4800600"/>
            <a:ext cx="3749040" cy="100584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With one account driving most receivable revenue, a credit review or diversification push protects cash flow if that relationship changes.</a:t>
            </a:r>
            <a:endParaRPr lang="en-US" sz="1050" dirty="0"/>
          </a:p>
        </p:txBody>
      </p:sp>
      <p:sp>
        <p:nvSpPr>
          <p:cNvPr id="14" name="Text 1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1B3D"/>
        </a:solidFill>
      </p:bgPr>
    </p:bg>
    <p:spTree>
      <p:nvGrpSpPr>
        <p:cNvPr id="1" name=""/>
        <p:cNvGrpSpPr/>
        <p:nvPr/>
      </p:nvGrpSpPr>
      <p:grpSpPr>
        <a:xfrm>
          <a:off x="0" y="0"/>
          <a:ext cx="0" cy="0"/>
          <a:chOff x="0" y="0"/>
          <a:chExt cx="0" cy="0"/>
        </a:xfrm>
      </p:grpSpPr>
      <p:sp>
        <p:nvSpPr>
          <p:cNvPr id="2" name="Text 0"/>
          <p:cNvSpPr/>
          <p:nvPr/>
        </p:nvSpPr>
        <p:spPr>
          <a:xfrm>
            <a:off x="731520" y="2331720"/>
            <a:ext cx="7315200" cy="365760"/>
          </a:xfrm>
          <a:prstGeom prst="rect">
            <a:avLst/>
          </a:prstGeom>
          <a:noFill/>
          <a:ln/>
        </p:spPr>
        <p:txBody>
          <a:bodyPr wrap="square" rtlCol="0" anchor="ctr"/>
          <a:lstStyle/>
          <a:p>
            <a:pPr indent="0" marL="0">
              <a:buNone/>
            </a:pPr>
            <a:r>
              <a:rPr lang="en-US" sz="1300" b="1" spc="300" kern="0" dirty="0">
                <a:solidFill>
                  <a:srgbClr val="8B7FD6"/>
                </a:solidFill>
                <a:latin typeface="Calibri" pitchFamily="34" charset="0"/>
                <a:ea typeface="Calibri" pitchFamily="34" charset="-122"/>
                <a:cs typeface="Calibri" pitchFamily="34" charset="-120"/>
              </a:rPr>
              <a:t>PAGE 4 OF 4</a:t>
            </a:r>
            <a:endParaRPr lang="en-US" sz="1300" dirty="0"/>
          </a:p>
        </p:txBody>
      </p:sp>
      <p:sp>
        <p:nvSpPr>
          <p:cNvPr id="3" name="Text 1"/>
          <p:cNvSpPr/>
          <p:nvPr/>
        </p:nvSpPr>
        <p:spPr>
          <a:xfrm>
            <a:off x="731520" y="2697480"/>
            <a:ext cx="10515600" cy="1463040"/>
          </a:xfrm>
          <a:prstGeom prst="rect">
            <a:avLst/>
          </a:prstGeom>
          <a:noFill/>
          <a:ln/>
        </p:spPr>
        <p:txBody>
          <a:bodyPr wrap="square"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Vendor &amp; Accounts Payable</a:t>
            </a:r>
            <a:endParaRPr lang="en-US" sz="4000" dirty="0"/>
          </a:p>
        </p:txBody>
      </p:sp>
      <p:sp>
        <p:nvSpPr>
          <p:cNvPr id="4" name="Text 2"/>
          <p:cNvSpPr/>
          <p:nvPr/>
        </p:nvSpPr>
        <p:spPr>
          <a:xfrm>
            <a:off x="731520" y="3977640"/>
            <a:ext cx="9418320" cy="731520"/>
          </a:xfrm>
          <a:prstGeom prst="rect">
            <a:avLst/>
          </a:prstGeom>
          <a:noFill/>
          <a:ln/>
        </p:spPr>
        <p:txBody>
          <a:bodyPr wrap="square" rtlCol="0" anchor="ctr"/>
          <a:lstStyle/>
          <a:p>
            <a:pPr indent="0" marL="0">
              <a:buNone/>
            </a:pPr>
            <a:r>
              <a:rPr lang="en-US" sz="1500" dirty="0">
                <a:solidFill>
                  <a:srgbClr val="C9C3EA"/>
                </a:solidFill>
                <a:latin typeface="Calibri" pitchFamily="34" charset="0"/>
                <a:ea typeface="Calibri" pitchFamily="34" charset="-122"/>
                <a:cs typeface="Calibri" pitchFamily="34" charset="-120"/>
              </a:rPr>
              <a:t>Billing, payment and aging — what the business owes, and how it's being paid down.</a:t>
            </a:r>
            <a:endParaRPr lang="en-US" sz="1500" dirty="0"/>
          </a:p>
        </p:txBody>
      </p:sp>
      <p:sp>
        <p:nvSpPr>
          <p:cNvPr id="5" name="Shape 3"/>
          <p:cNvSpPr/>
          <p:nvPr/>
        </p:nvSpPr>
        <p:spPr>
          <a:xfrm>
            <a:off x="731520" y="5074920"/>
            <a:ext cx="1965960" cy="502920"/>
          </a:xfrm>
          <a:prstGeom prst="roundRect">
            <a:avLst>
              <a:gd name="adj" fmla="val 10909"/>
            </a:avLst>
          </a:prstGeom>
          <a:solidFill>
            <a:srgbClr val="342A5C"/>
          </a:solidFill>
          <a:ln/>
        </p:spPr>
      </p:sp>
      <p:sp>
        <p:nvSpPr>
          <p:cNvPr id="6" name="Text 4"/>
          <p:cNvSpPr/>
          <p:nvPr/>
        </p:nvSpPr>
        <p:spPr>
          <a:xfrm>
            <a:off x="731520"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Sales Overview</a:t>
            </a:r>
            <a:endParaRPr lang="en-US" sz="1050" dirty="0"/>
          </a:p>
        </p:txBody>
      </p:sp>
      <p:sp>
        <p:nvSpPr>
          <p:cNvPr id="7" name="Shape 5"/>
          <p:cNvSpPr/>
          <p:nvPr/>
        </p:nvSpPr>
        <p:spPr>
          <a:xfrm>
            <a:off x="2807208" y="5074920"/>
            <a:ext cx="1965960" cy="502920"/>
          </a:xfrm>
          <a:prstGeom prst="roundRect">
            <a:avLst>
              <a:gd name="adj" fmla="val 10909"/>
            </a:avLst>
          </a:prstGeom>
          <a:solidFill>
            <a:srgbClr val="342A5C"/>
          </a:solidFill>
          <a:ln/>
        </p:spPr>
      </p:sp>
      <p:sp>
        <p:nvSpPr>
          <p:cNvPr id="8" name="Text 6"/>
          <p:cNvSpPr/>
          <p:nvPr/>
        </p:nvSpPr>
        <p:spPr>
          <a:xfrm>
            <a:off x="2807208"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Inventory Snapshot</a:t>
            </a:r>
            <a:endParaRPr lang="en-US" sz="1050" dirty="0"/>
          </a:p>
        </p:txBody>
      </p:sp>
      <p:sp>
        <p:nvSpPr>
          <p:cNvPr id="9" name="Shape 7"/>
          <p:cNvSpPr/>
          <p:nvPr/>
        </p:nvSpPr>
        <p:spPr>
          <a:xfrm>
            <a:off x="4882896" y="5074920"/>
            <a:ext cx="1965960" cy="502920"/>
          </a:xfrm>
          <a:prstGeom prst="roundRect">
            <a:avLst>
              <a:gd name="adj" fmla="val 10909"/>
            </a:avLst>
          </a:prstGeom>
          <a:solidFill>
            <a:srgbClr val="342A5C"/>
          </a:solidFill>
          <a:ln/>
        </p:spPr>
      </p:sp>
      <p:sp>
        <p:nvSpPr>
          <p:cNvPr id="10" name="Text 8"/>
          <p:cNvSpPr/>
          <p:nvPr/>
        </p:nvSpPr>
        <p:spPr>
          <a:xfrm>
            <a:off x="4882896" y="5074920"/>
            <a:ext cx="1965960" cy="502920"/>
          </a:xfrm>
          <a:prstGeom prst="rect">
            <a:avLst/>
          </a:prstGeom>
          <a:noFill/>
          <a:ln/>
        </p:spPr>
        <p:txBody>
          <a:bodyPr wrap="square" rtlCol="0" anchor="ctr"/>
          <a:lstStyle/>
          <a:p>
            <a:pPr algn="ctr" indent="0" marL="0">
              <a:buNone/>
            </a:pPr>
            <a:r>
              <a:rPr lang="en-US" sz="1050" dirty="0">
                <a:solidFill>
                  <a:srgbClr val="9C93C4"/>
                </a:solidFill>
                <a:latin typeface="Calibri" pitchFamily="34" charset="0"/>
                <a:ea typeface="Calibri" pitchFamily="34" charset="-122"/>
                <a:cs typeface="Calibri" pitchFamily="34" charset="-120"/>
              </a:rPr>
              <a:t>Customer &amp; AR</a:t>
            </a:r>
            <a:endParaRPr lang="en-US" sz="1050" dirty="0"/>
          </a:p>
        </p:txBody>
      </p:sp>
      <p:sp>
        <p:nvSpPr>
          <p:cNvPr id="11" name="Shape 9"/>
          <p:cNvSpPr/>
          <p:nvPr/>
        </p:nvSpPr>
        <p:spPr>
          <a:xfrm>
            <a:off x="6958584" y="5074920"/>
            <a:ext cx="1965960" cy="502920"/>
          </a:xfrm>
          <a:prstGeom prst="roundRect">
            <a:avLst>
              <a:gd name="adj" fmla="val 10909"/>
            </a:avLst>
          </a:prstGeom>
          <a:solidFill>
            <a:srgbClr val="8B7FD6"/>
          </a:solidFill>
          <a:ln/>
        </p:spPr>
      </p:sp>
      <p:sp>
        <p:nvSpPr>
          <p:cNvPr id="12" name="Text 10"/>
          <p:cNvSpPr/>
          <p:nvPr/>
        </p:nvSpPr>
        <p:spPr>
          <a:xfrm>
            <a:off x="6958584" y="5074920"/>
            <a:ext cx="196596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Vendor &amp; AP</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ACCOUNTS PAYABLE  ·  KPIS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2.70bn billed, with 379M still outstanding to vendors</a:t>
            </a:r>
            <a:endParaRPr lang="en-US" sz="3000" dirty="0"/>
          </a:p>
        </p:txBody>
      </p:sp>
      <p:sp>
        <p:nvSpPr>
          <p:cNvPr id="4" name="Shape 2"/>
          <p:cNvSpPr/>
          <p:nvPr/>
        </p:nvSpPr>
        <p:spPr>
          <a:xfrm>
            <a:off x="5486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5" name="Shape 3"/>
          <p:cNvSpPr/>
          <p:nvPr/>
        </p:nvSpPr>
        <p:spPr>
          <a:xfrm>
            <a:off x="713232" y="1673352"/>
            <a:ext cx="54864" cy="630936"/>
          </a:xfrm>
          <a:prstGeom prst="rect">
            <a:avLst/>
          </a:prstGeom>
          <a:solidFill>
            <a:srgbClr val="D8636B"/>
          </a:solidFill>
          <a:ln/>
        </p:spPr>
      </p:sp>
      <p:sp>
        <p:nvSpPr>
          <p:cNvPr id="6" name="Text 4"/>
          <p:cNvSpPr/>
          <p:nvPr/>
        </p:nvSpPr>
        <p:spPr>
          <a:xfrm>
            <a:off x="8686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379.10M</a:t>
            </a:r>
            <a:endParaRPr lang="en-US" sz="2200" dirty="0"/>
          </a:p>
        </p:txBody>
      </p:sp>
      <p:sp>
        <p:nvSpPr>
          <p:cNvPr id="7" name="Text 5"/>
          <p:cNvSpPr/>
          <p:nvPr/>
        </p:nvSpPr>
        <p:spPr>
          <a:xfrm>
            <a:off x="8686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OUTSTANDING</a:t>
            </a:r>
            <a:endParaRPr lang="en-US" sz="950" dirty="0"/>
          </a:p>
        </p:txBody>
      </p:sp>
      <p:sp>
        <p:nvSpPr>
          <p:cNvPr id="8" name="Shape 6"/>
          <p:cNvSpPr/>
          <p:nvPr/>
        </p:nvSpPr>
        <p:spPr>
          <a:xfrm>
            <a:off x="32918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9" name="Shape 7"/>
          <p:cNvSpPr/>
          <p:nvPr/>
        </p:nvSpPr>
        <p:spPr>
          <a:xfrm>
            <a:off x="3456432" y="1673352"/>
            <a:ext cx="54864" cy="630936"/>
          </a:xfrm>
          <a:prstGeom prst="rect">
            <a:avLst/>
          </a:prstGeom>
          <a:solidFill>
            <a:srgbClr val="8B7FD6"/>
          </a:solidFill>
          <a:ln/>
        </p:spPr>
      </p:sp>
      <p:sp>
        <p:nvSpPr>
          <p:cNvPr id="10" name="Text 8"/>
          <p:cNvSpPr/>
          <p:nvPr/>
        </p:nvSpPr>
        <p:spPr>
          <a:xfrm>
            <a:off x="36118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2.70bn</a:t>
            </a:r>
            <a:endParaRPr lang="en-US" sz="2200" dirty="0"/>
          </a:p>
        </p:txBody>
      </p:sp>
      <p:sp>
        <p:nvSpPr>
          <p:cNvPr id="11" name="Text 9"/>
          <p:cNvSpPr/>
          <p:nvPr/>
        </p:nvSpPr>
        <p:spPr>
          <a:xfrm>
            <a:off x="36118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BILLED</a:t>
            </a:r>
            <a:endParaRPr lang="en-US" sz="950" dirty="0"/>
          </a:p>
        </p:txBody>
      </p:sp>
      <p:sp>
        <p:nvSpPr>
          <p:cNvPr id="12" name="Shape 10"/>
          <p:cNvSpPr/>
          <p:nvPr/>
        </p:nvSpPr>
        <p:spPr>
          <a:xfrm>
            <a:off x="60350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3" name="Shape 11"/>
          <p:cNvSpPr/>
          <p:nvPr/>
        </p:nvSpPr>
        <p:spPr>
          <a:xfrm>
            <a:off x="6199632" y="1673352"/>
            <a:ext cx="54864" cy="630936"/>
          </a:xfrm>
          <a:prstGeom prst="rect">
            <a:avLst/>
          </a:prstGeom>
          <a:solidFill>
            <a:srgbClr val="4FB6A8"/>
          </a:solidFill>
          <a:ln/>
        </p:spPr>
      </p:sp>
      <p:sp>
        <p:nvSpPr>
          <p:cNvPr id="14" name="Text 12"/>
          <p:cNvSpPr/>
          <p:nvPr/>
        </p:nvSpPr>
        <p:spPr>
          <a:xfrm>
            <a:off x="63550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2.81bn</a:t>
            </a:r>
            <a:endParaRPr lang="en-US" sz="2200" dirty="0"/>
          </a:p>
        </p:txBody>
      </p:sp>
      <p:sp>
        <p:nvSpPr>
          <p:cNvPr id="15" name="Text 13"/>
          <p:cNvSpPr/>
          <p:nvPr/>
        </p:nvSpPr>
        <p:spPr>
          <a:xfrm>
            <a:off x="63550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CASH PAID OUT</a:t>
            </a:r>
            <a:endParaRPr lang="en-US" sz="950" dirty="0"/>
          </a:p>
        </p:txBody>
      </p:sp>
      <p:sp>
        <p:nvSpPr>
          <p:cNvPr id="16" name="Shape 14"/>
          <p:cNvSpPr/>
          <p:nvPr/>
        </p:nvSpPr>
        <p:spPr>
          <a:xfrm>
            <a:off x="8778240" y="1508760"/>
            <a:ext cx="2606040" cy="960120"/>
          </a:xfrm>
          <a:prstGeom prst="roundRect">
            <a:avLst>
              <a:gd name="adj" fmla="val 7619"/>
            </a:avLst>
          </a:prstGeom>
          <a:solidFill>
            <a:srgbClr val="F7F6FC"/>
          </a:solidFill>
          <a:ln w="12700">
            <a:solidFill>
              <a:srgbClr val="E1DEF2"/>
            </a:solidFill>
            <a:prstDash val="solid"/>
          </a:ln>
          <a:effectLst>
            <a:outerShdw sx="100000" sy="100000" kx="0" ky="0" algn="bl" rotWithShape="0" blurRad="76200" dist="25400" dir="5400000">
              <a:srgbClr val="3A3060">
                <a:alpha val="12000"/>
              </a:srgbClr>
            </a:outerShdw>
          </a:effectLst>
        </p:spPr>
      </p:sp>
      <p:sp>
        <p:nvSpPr>
          <p:cNvPr id="17" name="Shape 15"/>
          <p:cNvSpPr/>
          <p:nvPr/>
        </p:nvSpPr>
        <p:spPr>
          <a:xfrm>
            <a:off x="8942832" y="1673352"/>
            <a:ext cx="54864" cy="630936"/>
          </a:xfrm>
          <a:prstGeom prst="rect">
            <a:avLst/>
          </a:prstGeom>
          <a:solidFill>
            <a:srgbClr val="E0A93E"/>
          </a:solidFill>
          <a:ln/>
        </p:spPr>
      </p:sp>
      <p:sp>
        <p:nvSpPr>
          <p:cNvPr id="18" name="Text 16"/>
          <p:cNvSpPr/>
          <p:nvPr/>
        </p:nvSpPr>
        <p:spPr>
          <a:xfrm>
            <a:off x="9098280" y="1636776"/>
            <a:ext cx="2148840" cy="528066"/>
          </a:xfrm>
          <a:prstGeom prst="rect">
            <a:avLst/>
          </a:prstGeom>
          <a:noFill/>
          <a:ln/>
        </p:spPr>
        <p:txBody>
          <a:bodyPr wrap="square" rtlCol="0" anchor="b"/>
          <a:lstStyle/>
          <a:p>
            <a:pPr indent="0" marL="0">
              <a:buNone/>
            </a:pPr>
            <a:r>
              <a:rPr lang="en-US" sz="2200" b="1" dirty="0">
                <a:solidFill>
                  <a:srgbClr val="26203D"/>
                </a:solidFill>
                <a:latin typeface="Century Gothic" pitchFamily="34" charset="0"/>
                <a:ea typeface="Century Gothic" pitchFamily="34" charset="-122"/>
                <a:cs typeface="Century Gothic" pitchFamily="34" charset="-120"/>
              </a:rPr>
              <a:t>206.30M</a:t>
            </a:r>
            <a:endParaRPr lang="en-US" sz="2200" dirty="0"/>
          </a:p>
        </p:txBody>
      </p:sp>
      <p:sp>
        <p:nvSpPr>
          <p:cNvPr id="19" name="Text 17"/>
          <p:cNvSpPr/>
          <p:nvPr/>
        </p:nvSpPr>
        <p:spPr>
          <a:xfrm>
            <a:off x="9098280" y="2084832"/>
            <a:ext cx="2148840" cy="336042"/>
          </a:xfrm>
          <a:prstGeom prst="rect">
            <a:avLst/>
          </a:prstGeom>
          <a:noFill/>
          <a:ln/>
        </p:spPr>
        <p:txBody>
          <a:bodyPr wrap="square" rtlCol="0" anchor="t"/>
          <a:lstStyle/>
          <a:p>
            <a:pPr indent="0" marL="0">
              <a:buNone/>
            </a:pPr>
            <a:r>
              <a:rPr lang="en-US" sz="950" spc="100" kern="0" dirty="0">
                <a:solidFill>
                  <a:srgbClr val="5B5470"/>
                </a:solidFill>
                <a:latin typeface="Calibri" pitchFamily="34" charset="0"/>
                <a:ea typeface="Calibri" pitchFamily="34" charset="-122"/>
                <a:cs typeface="Calibri" pitchFamily="34" charset="-120"/>
              </a:rPr>
              <a:t>TOTAL UNAPPLIED</a:t>
            </a:r>
            <a:endParaRPr lang="en-US" sz="950" dirty="0"/>
          </a:p>
        </p:txBody>
      </p:sp>
      <p:sp>
        <p:nvSpPr>
          <p:cNvPr id="20" name="Text 18"/>
          <p:cNvSpPr/>
          <p:nvPr/>
        </p:nvSpPr>
        <p:spPr>
          <a:xfrm>
            <a:off x="548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Top vendors by outstanding balance (₦)</a:t>
            </a:r>
            <a:endParaRPr lang="en-US" sz="1300" dirty="0"/>
          </a:p>
        </p:txBody>
      </p:sp>
      <p:graphicFrame>
        <p:nvGraphicFramePr>
          <p:cNvPr id="21" name="Chart 0" descr=""/>
          <p:cNvGraphicFramePr/>
          <p:nvPr/>
        </p:nvGraphicFramePr>
        <p:xfrm>
          <a:off x="457200" y="301752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6263640" y="2697480"/>
            <a:ext cx="530352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Bill status breakdown (₦)</a:t>
            </a:r>
            <a:endParaRPr lang="en-US" sz="1300" dirty="0"/>
          </a:p>
        </p:txBody>
      </p:sp>
      <p:graphicFrame>
        <p:nvGraphicFramePr>
          <p:cNvPr id="23" name="Chart 1" descr=""/>
          <p:cNvGraphicFramePr/>
          <p:nvPr/>
        </p:nvGraphicFramePr>
        <p:xfrm>
          <a:off x="6172200" y="3017520"/>
          <a:ext cx="5486400" cy="324612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p:nvPr/>
        </p:nvSpPr>
        <p:spPr>
          <a:xfrm>
            <a:off x="548640" y="6355080"/>
            <a:ext cx="10515600" cy="274320"/>
          </a:xfrm>
          <a:prstGeom prst="rect">
            <a:avLst/>
          </a:prstGeom>
          <a:noFill/>
          <a:ln/>
        </p:spPr>
        <p:txBody>
          <a:bodyPr wrap="square" rtlCol="0" anchor="ctr"/>
          <a:lstStyle/>
          <a:p>
            <a:pPr indent="0" marL="0">
              <a:buNone/>
            </a:pPr>
            <a:r>
              <a:rPr lang="en-US" sz="850" i="1" dirty="0">
                <a:solidFill>
                  <a:srgbClr val="8A84A0"/>
                </a:solidFill>
                <a:latin typeface="Calibri" pitchFamily="34" charset="0"/>
                <a:ea typeface="Calibri" pitchFamily="34" charset="-122"/>
                <a:cs typeface="Calibri" pitchFamily="34" charset="-120"/>
              </a:rPr>
              <a:t>Chart values approximate the on-screen dashboard visuals; vendor and status ranking match the built report.</a:t>
            </a:r>
            <a:endParaRPr lang="en-US" sz="850" dirty="0"/>
          </a:p>
        </p:txBody>
      </p:sp>
      <p:sp>
        <p:nvSpPr>
          <p:cNvPr id="25"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ACCOUNTS PAYABLE  ·  FINDINGS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Payables are manageable, but one vendor and one month stand out</a:t>
            </a:r>
            <a:endParaRPr lang="en-US" sz="3000" dirty="0"/>
          </a:p>
        </p:txBody>
      </p:sp>
      <p:sp>
        <p:nvSpPr>
          <p:cNvPr id="4" name="Text 2"/>
          <p:cNvSpPr/>
          <p:nvPr/>
        </p:nvSpPr>
        <p:spPr>
          <a:xfrm>
            <a:off x="548640" y="1508760"/>
            <a:ext cx="6492240" cy="320040"/>
          </a:xfrm>
          <a:prstGeom prst="rect">
            <a:avLst/>
          </a:prstGeom>
          <a:noFill/>
          <a:ln/>
        </p:spPr>
        <p:txBody>
          <a:bodyPr wrap="square" rtlCol="0" anchor="ctr"/>
          <a:lstStyle/>
          <a:p>
            <a:pPr indent="0" marL="0">
              <a:buNone/>
            </a:pPr>
            <a:r>
              <a:rPr lang="en-US" sz="1300" b="1" dirty="0">
                <a:solidFill>
                  <a:srgbClr val="26203D"/>
                </a:solidFill>
                <a:latin typeface="Century Gothic" pitchFamily="34" charset="0"/>
                <a:ea typeface="Century Gothic" pitchFamily="34" charset="-122"/>
                <a:cs typeface="Century Gothic" pitchFamily="34" charset="-120"/>
              </a:rPr>
              <a:t>What the numbers show</a:t>
            </a:r>
            <a:endParaRPr lang="en-US" sz="1300" dirty="0"/>
          </a:p>
        </p:txBody>
      </p:sp>
      <p:sp>
        <p:nvSpPr>
          <p:cNvPr id="5" name="Text 3"/>
          <p:cNvSpPr/>
          <p:nvPr/>
        </p:nvSpPr>
        <p:spPr>
          <a:xfrm>
            <a:off x="548640" y="1874520"/>
            <a:ext cx="6492240" cy="3566160"/>
          </a:xfrm>
          <a:prstGeom prst="rect">
            <a:avLst/>
          </a:prstGeom>
          <a:noFill/>
          <a:ln/>
        </p:spPr>
        <p:txBody>
          <a:bodyPr wrap="square" rtlCol="0" anchor="ctr"/>
          <a:lstStyle/>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Outstanding balance (379.10M) sits at roughly 14% of total billed (2.70bn) — a normal working-capital position, not a red flag on its own.</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VEN_C17A4E444851 is the single largest outstanding balance and also tops the Accounts Payable Aging table, at ₦5,807,400 outstanding against a ₦5,807,400 bill.</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The Bill Status Breakdown shows "paid" far ahead of every other status, with pending_approval a distant second — approvals aren't the bottleneck.</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Like the receivables side, the Cash Payment Trend is fairly steady from January through July, then falls sharply in August.</a:t>
            </a:r>
            <a:endParaRPr lang="en-US" sz="1050" dirty="0"/>
          </a:p>
          <a:p>
            <a:pPr marL="342900" indent="-342900">
              <a:lnSpc>
                <a:spcPct val="122000"/>
              </a:lnSpc>
              <a:spcAft>
                <a:spcPts val="900"/>
              </a:spcAft>
              <a:buSzPct val="100000"/>
              <a:buChar char="•"/>
            </a:pPr>
            <a:r>
              <a:rPr lang="en-US" sz="1050" dirty="0">
                <a:solidFill>
                  <a:srgbClr val="5B5470"/>
                </a:solidFill>
                <a:latin typeface="Calibri" pitchFamily="34" charset="0"/>
                <a:ea typeface="Calibri" pitchFamily="34" charset="-122"/>
                <a:cs typeface="Calibri" pitchFamily="34" charset="-120"/>
              </a:rPr>
              <a:t>The Accounts Payable Aging table totals ₦410,552,489 billed against ₦379,096,755 outstanding for the listed vendors — most bills are still open rather than partially settled.</a:t>
            </a:r>
            <a:endParaRPr lang="en-US" sz="1050" dirty="0"/>
          </a:p>
        </p:txBody>
      </p:sp>
      <p:sp>
        <p:nvSpPr>
          <p:cNvPr id="6" name="Shape 4"/>
          <p:cNvSpPr/>
          <p:nvPr/>
        </p:nvSpPr>
        <p:spPr>
          <a:xfrm>
            <a:off x="7315200" y="1508760"/>
            <a:ext cx="4297680" cy="4846320"/>
          </a:xfrm>
          <a:prstGeom prst="roundRect">
            <a:avLst>
              <a:gd name="adj" fmla="val 1702"/>
            </a:avLst>
          </a:prstGeom>
          <a:solidFill>
            <a:srgbClr val="EDEAFB"/>
          </a:solidFill>
          <a:ln/>
        </p:spPr>
      </p:sp>
      <p:sp>
        <p:nvSpPr>
          <p:cNvPr id="7" name="Text 5"/>
          <p:cNvSpPr/>
          <p:nvPr/>
        </p:nvSpPr>
        <p:spPr>
          <a:xfrm>
            <a:off x="7589520" y="1737360"/>
            <a:ext cx="3749040" cy="274320"/>
          </a:xfrm>
          <a:prstGeom prst="rect">
            <a:avLst/>
          </a:prstGeom>
          <a:noFill/>
          <a:ln/>
        </p:spPr>
        <p:txBody>
          <a:bodyPr wrap="square" rtlCol="0" anchor="ctr"/>
          <a:lstStyle/>
          <a:p>
            <a:pPr indent="0" marL="0">
              <a:buNone/>
            </a:pPr>
            <a:r>
              <a:rPr lang="en-US" sz="1050" b="1" spc="150" kern="0" dirty="0">
                <a:solidFill>
                  <a:srgbClr val="6C5CE0"/>
                </a:solidFill>
                <a:latin typeface="Calibri" pitchFamily="34" charset="0"/>
                <a:ea typeface="Calibri" pitchFamily="34" charset="-122"/>
                <a:cs typeface="Calibri" pitchFamily="34" charset="-120"/>
              </a:rPr>
              <a:t>RECOMMENDATION</a:t>
            </a:r>
            <a:endParaRPr lang="en-US" sz="1050" dirty="0"/>
          </a:p>
        </p:txBody>
      </p:sp>
      <p:sp>
        <p:nvSpPr>
          <p:cNvPr id="8" name="Text 6"/>
          <p:cNvSpPr/>
          <p:nvPr/>
        </p:nvSpPr>
        <p:spPr>
          <a:xfrm>
            <a:off x="7589520" y="2011680"/>
            <a:ext cx="3749040" cy="68580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Prioritize the top vendor by due date</a:t>
            </a:r>
            <a:endParaRPr lang="en-US" sz="1450" dirty="0"/>
          </a:p>
        </p:txBody>
      </p:sp>
      <p:sp>
        <p:nvSpPr>
          <p:cNvPr id="9" name="Text 7"/>
          <p:cNvSpPr/>
          <p:nvPr/>
        </p:nvSpPr>
        <p:spPr>
          <a:xfrm>
            <a:off x="7589520" y="2697480"/>
            <a:ext cx="3749040" cy="118872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VEN_C17A4E444851's balance is both the largest and among the earliest due (07/17/2026) — clear it first to protect the vendor relationship and any early-payment terms.</a:t>
            </a:r>
            <a:endParaRPr lang="en-US" sz="1050" dirty="0"/>
          </a:p>
        </p:txBody>
      </p:sp>
      <p:sp>
        <p:nvSpPr>
          <p:cNvPr id="10" name="Shape 8"/>
          <p:cNvSpPr/>
          <p:nvPr/>
        </p:nvSpPr>
        <p:spPr>
          <a:xfrm>
            <a:off x="7589520" y="3977640"/>
            <a:ext cx="3749040" cy="0"/>
          </a:xfrm>
          <a:prstGeom prst="line">
            <a:avLst/>
          </a:prstGeom>
          <a:noFill/>
          <a:ln w="9525">
            <a:solidFill>
              <a:srgbClr val="8B7FD6"/>
            </a:solidFill>
            <a:prstDash val="dash"/>
          </a:ln>
        </p:spPr>
      </p:sp>
      <p:sp>
        <p:nvSpPr>
          <p:cNvPr id="11" name="Text 9"/>
          <p:cNvSpPr/>
          <p:nvPr/>
        </p:nvSpPr>
        <p:spPr>
          <a:xfrm>
            <a:off x="7589520" y="4160520"/>
            <a:ext cx="3749040" cy="274320"/>
          </a:xfrm>
          <a:prstGeom prst="rect">
            <a:avLst/>
          </a:prstGeom>
          <a:noFill/>
          <a:ln/>
        </p:spPr>
        <p:txBody>
          <a:bodyPr wrap="square" rtlCol="0" anchor="ctr"/>
          <a:lstStyle/>
          <a:p>
            <a:pPr indent="0" marL="0">
              <a:buNone/>
            </a:pPr>
            <a:r>
              <a:rPr lang="en-US" sz="1050" b="1" spc="150" kern="0" dirty="0">
                <a:solidFill>
                  <a:srgbClr val="6C5CE0"/>
                </a:solidFill>
                <a:latin typeface="Calibri" pitchFamily="34" charset="0"/>
                <a:ea typeface="Calibri" pitchFamily="34" charset="-122"/>
                <a:cs typeface="Calibri" pitchFamily="34" charset="-120"/>
              </a:rPr>
              <a:t>RECOMMENDATION</a:t>
            </a:r>
            <a:endParaRPr lang="en-US" sz="1050" dirty="0"/>
          </a:p>
        </p:txBody>
      </p:sp>
      <p:sp>
        <p:nvSpPr>
          <p:cNvPr id="12" name="Text 10"/>
          <p:cNvSpPr/>
          <p:nvPr/>
        </p:nvSpPr>
        <p:spPr>
          <a:xfrm>
            <a:off x="7589520" y="4434840"/>
            <a:ext cx="3749040" cy="502920"/>
          </a:xfrm>
          <a:prstGeom prst="rect">
            <a:avLst/>
          </a:prstGeom>
          <a:noFill/>
          <a:ln/>
        </p:spPr>
        <p:txBody>
          <a:bodyPr wrap="square" rtlCol="0" anchor="ctr"/>
          <a:lstStyle/>
          <a:p>
            <a:pPr indent="0" marL="0">
              <a:buNone/>
            </a:pPr>
            <a:r>
              <a:rPr lang="en-US" sz="1450" b="1" dirty="0">
                <a:solidFill>
                  <a:srgbClr val="26203D"/>
                </a:solidFill>
                <a:latin typeface="Century Gothic" pitchFamily="34" charset="0"/>
                <a:ea typeface="Century Gothic" pitchFamily="34" charset="-122"/>
                <a:cs typeface="Century Gothic" pitchFamily="34" charset="-120"/>
              </a:rPr>
              <a:t>Reconcile the August cash-out drop</a:t>
            </a:r>
            <a:endParaRPr lang="en-US" sz="1450" dirty="0"/>
          </a:p>
        </p:txBody>
      </p:sp>
      <p:sp>
        <p:nvSpPr>
          <p:cNvPr id="13" name="Text 11"/>
          <p:cNvSpPr/>
          <p:nvPr/>
        </p:nvSpPr>
        <p:spPr>
          <a:xfrm>
            <a:off x="7589520" y="4983480"/>
            <a:ext cx="3749040" cy="914400"/>
          </a:xfrm>
          <a:prstGeom prst="rect">
            <a:avLst/>
          </a:prstGeom>
          <a:noFill/>
          <a:ln/>
        </p:spPr>
        <p:txBody>
          <a:bodyPr wrap="square" rtlCol="0" anchor="ctr"/>
          <a:lstStyle/>
          <a:p>
            <a:pPr indent="0" marL="0">
              <a:lnSpc>
                <a:spcPct val="120000"/>
              </a:lnSpc>
              <a:buNone/>
            </a:pPr>
            <a:r>
              <a:rPr lang="en-US" sz="1050" dirty="0">
                <a:solidFill>
                  <a:srgbClr val="5B5470"/>
                </a:solidFill>
                <a:latin typeface="Calibri" pitchFamily="34" charset="0"/>
                <a:ea typeface="Calibri" pitchFamily="34" charset="-122"/>
                <a:cs typeface="Calibri" pitchFamily="34" charset="-120"/>
              </a:rPr>
              <a:t>Pair this against the AR August dip — if both come from the same data cut-off, it's a reporting artifact, not a cash event.</a:t>
            </a:r>
            <a:endParaRPr lang="en-US" sz="1050" dirty="0"/>
          </a:p>
        </p:txBody>
      </p:sp>
      <p:sp>
        <p:nvSpPr>
          <p:cNvPr id="14" name="Text 1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1B3D"/>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8B7FD6"/>
                </a:solidFill>
                <a:latin typeface="Calibri" pitchFamily="34" charset="0"/>
                <a:ea typeface="Calibri" pitchFamily="34" charset="-122"/>
                <a:cs typeface="Calibri" pitchFamily="34" charset="-120"/>
              </a:rPr>
              <a:t>ACROSS ALL FOUR PAGES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FFFFFF"/>
                </a:solidFill>
                <a:latin typeface="Century Gothic" pitchFamily="34" charset="0"/>
                <a:ea typeface="Century Gothic" pitchFamily="34" charset="-122"/>
                <a:cs typeface="Century Gothic" pitchFamily="34" charset="-120"/>
              </a:rPr>
              <a:t>Putting Sales, Inventory, AR and AP side by side</a:t>
            </a:r>
            <a:endParaRPr lang="en-US" sz="3000" dirty="0"/>
          </a:p>
        </p:txBody>
      </p:sp>
      <p:sp>
        <p:nvSpPr>
          <p:cNvPr id="4" name="Shape 2"/>
          <p:cNvSpPr/>
          <p:nvPr/>
        </p:nvSpPr>
        <p:spPr>
          <a:xfrm>
            <a:off x="548640" y="1600200"/>
            <a:ext cx="5120640" cy="1965960"/>
          </a:xfrm>
          <a:prstGeom prst="roundRect">
            <a:avLst>
              <a:gd name="adj" fmla="val 3721"/>
            </a:avLst>
          </a:prstGeom>
          <a:solidFill>
            <a:srgbClr val="2E2350"/>
          </a:solidFill>
          <a:ln/>
        </p:spPr>
      </p:sp>
      <p:sp>
        <p:nvSpPr>
          <p:cNvPr id="5" name="Text 3"/>
          <p:cNvSpPr/>
          <p:nvPr/>
        </p:nvSpPr>
        <p:spPr>
          <a:xfrm>
            <a:off x="822960" y="1783080"/>
            <a:ext cx="4572000" cy="502920"/>
          </a:xfrm>
          <a:prstGeom prst="rect">
            <a:avLst/>
          </a:prstGeom>
          <a:noFill/>
          <a:ln/>
        </p:spPr>
        <p:txBody>
          <a:bodyPr wrap="square" rtlCol="0" anchor="ctr"/>
          <a:lstStyle/>
          <a:p>
            <a:pPr indent="0" marL="0">
              <a:buNone/>
            </a:pPr>
            <a:r>
              <a:rPr lang="en-US" sz="1400" b="1" dirty="0">
                <a:solidFill>
                  <a:srgbClr val="8B7FD6"/>
                </a:solidFill>
                <a:latin typeface="Century Gothic" pitchFamily="34" charset="0"/>
                <a:ea typeface="Century Gothic" pitchFamily="34" charset="-122"/>
                <a:cs typeface="Century Gothic" pitchFamily="34" charset="-120"/>
              </a:rPr>
              <a:t>Store_04 is the chain's engine — and its risk</a:t>
            </a:r>
            <a:endParaRPr lang="en-US" sz="1400" dirty="0"/>
          </a:p>
        </p:txBody>
      </p:sp>
      <p:sp>
        <p:nvSpPr>
          <p:cNvPr id="6" name="Text 4"/>
          <p:cNvSpPr/>
          <p:nvPr/>
        </p:nvSpPr>
        <p:spPr>
          <a:xfrm>
            <a:off x="822960" y="2313432"/>
            <a:ext cx="4572000" cy="1051560"/>
          </a:xfrm>
          <a:prstGeom prst="rect">
            <a:avLst/>
          </a:prstGeom>
          <a:noFill/>
          <a:ln/>
        </p:spPr>
        <p:txBody>
          <a:bodyPr wrap="square" rtlCol="0" anchor="ctr"/>
          <a:lstStyle/>
          <a:p>
            <a:pPr indent="0" marL="0">
              <a:lnSpc>
                <a:spcPct val="120000"/>
              </a:lnSpc>
              <a:buNone/>
            </a:pPr>
            <a:r>
              <a:rPr lang="en-US" sz="1050" dirty="0">
                <a:solidFill>
                  <a:srgbClr val="D6D2EE"/>
                </a:solidFill>
                <a:latin typeface="Calibri" pitchFamily="34" charset="0"/>
                <a:ea typeface="Calibri" pitchFamily="34" charset="-122"/>
                <a:cs typeface="Calibri" pitchFamily="34" charset="-120"/>
              </a:rPr>
              <a:t>Top revenue, top margin %, and the largest stock holding, but also 59% of all returns. Growth and quality control need to move together here.</a:t>
            </a:r>
            <a:endParaRPr lang="en-US" sz="1050" dirty="0"/>
          </a:p>
        </p:txBody>
      </p:sp>
      <p:sp>
        <p:nvSpPr>
          <p:cNvPr id="7" name="Shape 5"/>
          <p:cNvSpPr/>
          <p:nvPr/>
        </p:nvSpPr>
        <p:spPr>
          <a:xfrm>
            <a:off x="5989320" y="1600200"/>
            <a:ext cx="5120640" cy="1965960"/>
          </a:xfrm>
          <a:prstGeom prst="roundRect">
            <a:avLst>
              <a:gd name="adj" fmla="val 3721"/>
            </a:avLst>
          </a:prstGeom>
          <a:solidFill>
            <a:srgbClr val="2E2350"/>
          </a:solidFill>
          <a:ln/>
        </p:spPr>
      </p:sp>
      <p:sp>
        <p:nvSpPr>
          <p:cNvPr id="8" name="Text 6"/>
          <p:cNvSpPr/>
          <p:nvPr/>
        </p:nvSpPr>
        <p:spPr>
          <a:xfrm>
            <a:off x="6263640" y="1783080"/>
            <a:ext cx="4572000" cy="502920"/>
          </a:xfrm>
          <a:prstGeom prst="rect">
            <a:avLst/>
          </a:prstGeom>
          <a:noFill/>
          <a:ln/>
        </p:spPr>
        <p:txBody>
          <a:bodyPr wrap="square" rtlCol="0" anchor="ctr"/>
          <a:lstStyle/>
          <a:p>
            <a:pPr indent="0" marL="0">
              <a:buNone/>
            </a:pPr>
            <a:r>
              <a:rPr lang="en-US" sz="1400" b="1" dirty="0">
                <a:solidFill>
                  <a:srgbClr val="8B7FD6"/>
                </a:solidFill>
                <a:latin typeface="Century Gothic" pitchFamily="34" charset="0"/>
                <a:ea typeface="Century Gothic" pitchFamily="34" charset="-122"/>
                <a:cs typeface="Century Gothic" pitchFamily="34" charset="-120"/>
              </a:rPr>
              <a:t>The August dip shows up twice</a:t>
            </a:r>
            <a:endParaRPr lang="en-US" sz="1400" dirty="0"/>
          </a:p>
        </p:txBody>
      </p:sp>
      <p:sp>
        <p:nvSpPr>
          <p:cNvPr id="9" name="Text 7"/>
          <p:cNvSpPr/>
          <p:nvPr/>
        </p:nvSpPr>
        <p:spPr>
          <a:xfrm>
            <a:off x="6263640" y="2313432"/>
            <a:ext cx="4572000" cy="1051560"/>
          </a:xfrm>
          <a:prstGeom prst="rect">
            <a:avLst/>
          </a:prstGeom>
          <a:noFill/>
          <a:ln/>
        </p:spPr>
        <p:txBody>
          <a:bodyPr wrap="square" rtlCol="0" anchor="ctr"/>
          <a:lstStyle/>
          <a:p>
            <a:pPr indent="0" marL="0">
              <a:lnSpc>
                <a:spcPct val="120000"/>
              </a:lnSpc>
              <a:buNone/>
            </a:pPr>
            <a:r>
              <a:rPr lang="en-US" sz="1050" dirty="0">
                <a:solidFill>
                  <a:srgbClr val="D6D2EE"/>
                </a:solidFill>
                <a:latin typeface="Calibri" pitchFamily="34" charset="0"/>
                <a:ea typeface="Calibri" pitchFamily="34" charset="-122"/>
                <a:cs typeface="Calibri" pitchFamily="34" charset="-120"/>
              </a:rPr>
              <a:t>Both the AR collection trend and the AP payment trend fall sharply in the same month — worth confirming as a data cut-off before reading it as a cash-flow signal.</a:t>
            </a:r>
            <a:endParaRPr lang="en-US" sz="1050" dirty="0"/>
          </a:p>
        </p:txBody>
      </p:sp>
      <p:sp>
        <p:nvSpPr>
          <p:cNvPr id="10" name="Shape 8"/>
          <p:cNvSpPr/>
          <p:nvPr/>
        </p:nvSpPr>
        <p:spPr>
          <a:xfrm>
            <a:off x="548640" y="3840480"/>
            <a:ext cx="5120640" cy="1965960"/>
          </a:xfrm>
          <a:prstGeom prst="roundRect">
            <a:avLst>
              <a:gd name="adj" fmla="val 3721"/>
            </a:avLst>
          </a:prstGeom>
          <a:solidFill>
            <a:srgbClr val="2E2350"/>
          </a:solidFill>
          <a:ln/>
        </p:spPr>
      </p:sp>
      <p:sp>
        <p:nvSpPr>
          <p:cNvPr id="11" name="Text 9"/>
          <p:cNvSpPr/>
          <p:nvPr/>
        </p:nvSpPr>
        <p:spPr>
          <a:xfrm>
            <a:off x="822960" y="4023360"/>
            <a:ext cx="4572000" cy="502920"/>
          </a:xfrm>
          <a:prstGeom prst="rect">
            <a:avLst/>
          </a:prstGeom>
          <a:noFill/>
          <a:ln/>
        </p:spPr>
        <p:txBody>
          <a:bodyPr wrap="square" rtlCol="0" anchor="ctr"/>
          <a:lstStyle/>
          <a:p>
            <a:pPr indent="0" marL="0">
              <a:buNone/>
            </a:pPr>
            <a:r>
              <a:rPr lang="en-US" sz="1400" b="1" dirty="0">
                <a:solidFill>
                  <a:srgbClr val="8B7FD6"/>
                </a:solidFill>
                <a:latin typeface="Century Gothic" pitchFamily="34" charset="0"/>
                <a:ea typeface="Century Gothic" pitchFamily="34" charset="-122"/>
                <a:cs typeface="Century Gothic" pitchFamily="34" charset="-120"/>
              </a:rPr>
              <a:t>Digital payments dominate both directions</a:t>
            </a:r>
            <a:endParaRPr lang="en-US" sz="1400" dirty="0"/>
          </a:p>
        </p:txBody>
      </p:sp>
      <p:sp>
        <p:nvSpPr>
          <p:cNvPr id="12" name="Text 10"/>
          <p:cNvSpPr/>
          <p:nvPr/>
        </p:nvSpPr>
        <p:spPr>
          <a:xfrm>
            <a:off x="822960" y="4553712"/>
            <a:ext cx="4572000" cy="1051560"/>
          </a:xfrm>
          <a:prstGeom prst="rect">
            <a:avLst/>
          </a:prstGeom>
          <a:noFill/>
          <a:ln/>
        </p:spPr>
        <p:txBody>
          <a:bodyPr wrap="square" rtlCol="0" anchor="ctr"/>
          <a:lstStyle/>
          <a:p>
            <a:pPr indent="0" marL="0">
              <a:lnSpc>
                <a:spcPct val="120000"/>
              </a:lnSpc>
              <a:buNone/>
            </a:pPr>
            <a:r>
              <a:rPr lang="en-US" sz="1050" dirty="0">
                <a:solidFill>
                  <a:srgbClr val="D6D2EE"/>
                </a:solidFill>
                <a:latin typeface="Calibri" pitchFamily="34" charset="0"/>
                <a:ea typeface="Calibri" pitchFamily="34" charset="-122"/>
                <a:cs typeface="Calibri" pitchFamily="34" charset="-120"/>
              </a:rPr>
              <a:t>89.8% of customer receipts move by bank transfer; a similarly bank-led pattern shows up in vendor payments — the business is effectively cashless at scale.</a:t>
            </a:r>
            <a:endParaRPr lang="en-US" sz="1050" dirty="0"/>
          </a:p>
        </p:txBody>
      </p:sp>
      <p:sp>
        <p:nvSpPr>
          <p:cNvPr id="13" name="Shape 11"/>
          <p:cNvSpPr/>
          <p:nvPr/>
        </p:nvSpPr>
        <p:spPr>
          <a:xfrm>
            <a:off x="5989320" y="3840480"/>
            <a:ext cx="5120640" cy="1965960"/>
          </a:xfrm>
          <a:prstGeom prst="roundRect">
            <a:avLst>
              <a:gd name="adj" fmla="val 3721"/>
            </a:avLst>
          </a:prstGeom>
          <a:solidFill>
            <a:srgbClr val="2E2350"/>
          </a:solidFill>
          <a:ln/>
        </p:spPr>
      </p:sp>
      <p:sp>
        <p:nvSpPr>
          <p:cNvPr id="14" name="Text 12"/>
          <p:cNvSpPr/>
          <p:nvPr/>
        </p:nvSpPr>
        <p:spPr>
          <a:xfrm>
            <a:off x="6263640" y="4023360"/>
            <a:ext cx="4572000" cy="502920"/>
          </a:xfrm>
          <a:prstGeom prst="rect">
            <a:avLst/>
          </a:prstGeom>
          <a:noFill/>
          <a:ln/>
        </p:spPr>
        <p:txBody>
          <a:bodyPr wrap="square" rtlCol="0" anchor="ctr"/>
          <a:lstStyle/>
          <a:p>
            <a:pPr indent="0" marL="0">
              <a:buNone/>
            </a:pPr>
            <a:r>
              <a:rPr lang="en-US" sz="1400" b="1" dirty="0">
                <a:solidFill>
                  <a:srgbClr val="8B7FD6"/>
                </a:solidFill>
                <a:latin typeface="Century Gothic" pitchFamily="34" charset="0"/>
                <a:ea typeface="Century Gothic" pitchFamily="34" charset="-122"/>
                <a:cs typeface="Century Gothic" pitchFamily="34" charset="-120"/>
              </a:rPr>
              <a:t>Data quality earns its own line item</a:t>
            </a:r>
            <a:endParaRPr lang="en-US" sz="1400" dirty="0"/>
          </a:p>
        </p:txBody>
      </p:sp>
      <p:sp>
        <p:nvSpPr>
          <p:cNvPr id="15" name="Text 13"/>
          <p:cNvSpPr/>
          <p:nvPr/>
        </p:nvSpPr>
        <p:spPr>
          <a:xfrm>
            <a:off x="6263640" y="4553712"/>
            <a:ext cx="4572000" cy="1051560"/>
          </a:xfrm>
          <a:prstGeom prst="rect">
            <a:avLst/>
          </a:prstGeom>
          <a:noFill/>
          <a:ln/>
        </p:spPr>
        <p:txBody>
          <a:bodyPr wrap="square" rtlCol="0" anchor="ctr"/>
          <a:lstStyle/>
          <a:p>
            <a:pPr indent="0" marL="0">
              <a:lnSpc>
                <a:spcPct val="120000"/>
              </a:lnSpc>
              <a:buNone/>
            </a:pPr>
            <a:r>
              <a:rPr lang="en-US" sz="1050" dirty="0">
                <a:solidFill>
                  <a:srgbClr val="D6D2EE"/>
                </a:solidFill>
                <a:latin typeface="Calibri" pitchFamily="34" charset="0"/>
                <a:ea typeface="Calibri" pitchFamily="34" charset="-122"/>
                <a:cs typeface="Calibri" pitchFamily="34" charset="-120"/>
              </a:rPr>
              <a:t>275 negative-stock rows (-₦123.48M) show the inventory pipeline needs a reconciliation step — the dashboard didn't just report the business, it found a process gap.</a:t>
            </a:r>
            <a:endParaRPr lang="en-US" sz="1050" dirty="0"/>
          </a:p>
        </p:txBody>
      </p:sp>
      <p:sp>
        <p:nvSpPr>
          <p:cNvPr id="16" name="Text 14"/>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6C5CE0"/>
                </a:solidFill>
                <a:latin typeface="Calibri" pitchFamily="34" charset="0"/>
                <a:ea typeface="Calibri" pitchFamily="34" charset="-122"/>
                <a:cs typeface="Calibri" pitchFamily="34" charset="-120"/>
              </a:rPr>
              <a:t>STRATEGIC RECOMMENDATIONS</a:t>
            </a:r>
            <a:endParaRPr lang="en-US" sz="12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26203D"/>
                </a:solidFill>
                <a:latin typeface="Century Gothic" pitchFamily="34" charset="0"/>
                <a:ea typeface="Century Gothic" pitchFamily="34" charset="-122"/>
                <a:cs typeface="Century Gothic" pitchFamily="34" charset="-120"/>
              </a:rPr>
              <a:t>From dashboard to decisions: a 3-step roadmap</a:t>
            </a:r>
            <a:endParaRPr lang="en-US" sz="3000" dirty="0"/>
          </a:p>
        </p:txBody>
      </p:sp>
      <p:sp>
        <p:nvSpPr>
          <p:cNvPr id="4" name="Shape 2"/>
          <p:cNvSpPr/>
          <p:nvPr/>
        </p:nvSpPr>
        <p:spPr>
          <a:xfrm>
            <a:off x="548640" y="1600200"/>
            <a:ext cx="3520440" cy="4114800"/>
          </a:xfrm>
          <a:prstGeom prst="roundRect">
            <a:avLst>
              <a:gd name="adj" fmla="val 2078"/>
            </a:avLst>
          </a:prstGeom>
          <a:solidFill>
            <a:srgbClr val="F7F6FC"/>
          </a:solidFill>
          <a:ln w="12700">
            <a:solidFill>
              <a:srgbClr val="E1DEF2"/>
            </a:solidFill>
            <a:prstDash val="solid"/>
          </a:ln>
        </p:spPr>
      </p:sp>
      <p:sp>
        <p:nvSpPr>
          <p:cNvPr id="5" name="Shape 3"/>
          <p:cNvSpPr/>
          <p:nvPr/>
        </p:nvSpPr>
        <p:spPr>
          <a:xfrm>
            <a:off x="777240" y="1828800"/>
            <a:ext cx="1051560" cy="329184"/>
          </a:xfrm>
          <a:prstGeom prst="roundRect">
            <a:avLst>
              <a:gd name="adj" fmla="val 50000"/>
            </a:avLst>
          </a:prstGeom>
          <a:solidFill>
            <a:srgbClr val="8B7FD6"/>
          </a:solidFill>
          <a:ln/>
        </p:spPr>
      </p:sp>
      <p:sp>
        <p:nvSpPr>
          <p:cNvPr id="6" name="Text 4"/>
          <p:cNvSpPr/>
          <p:nvPr/>
        </p:nvSpPr>
        <p:spPr>
          <a:xfrm>
            <a:off x="777240" y="1828800"/>
            <a:ext cx="105156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NOW</a:t>
            </a:r>
            <a:endParaRPr lang="en-US" sz="950" dirty="0"/>
          </a:p>
        </p:txBody>
      </p:sp>
      <p:sp>
        <p:nvSpPr>
          <p:cNvPr id="7" name="Text 5"/>
          <p:cNvSpPr/>
          <p:nvPr/>
        </p:nvSpPr>
        <p:spPr>
          <a:xfrm>
            <a:off x="777240" y="2286000"/>
            <a:ext cx="3063240" cy="457200"/>
          </a:xfrm>
          <a:prstGeom prst="rect">
            <a:avLst/>
          </a:prstGeom>
          <a:noFill/>
          <a:ln/>
        </p:spPr>
        <p:txBody>
          <a:bodyPr wrap="square" rtlCol="0" anchor="ctr"/>
          <a:lstStyle/>
          <a:p>
            <a:pPr indent="0" marL="0">
              <a:buNone/>
            </a:pPr>
            <a:r>
              <a:rPr lang="en-US" sz="1550" b="1" dirty="0">
                <a:solidFill>
                  <a:srgbClr val="26203D"/>
                </a:solidFill>
                <a:latin typeface="Century Gothic" pitchFamily="34" charset="0"/>
                <a:ea typeface="Century Gothic" pitchFamily="34" charset="-122"/>
                <a:cs typeface="Century Gothic" pitchFamily="34" charset="-120"/>
              </a:rPr>
              <a:t>Fix the data</a:t>
            </a:r>
            <a:endParaRPr lang="en-US" sz="1550" dirty="0"/>
          </a:p>
        </p:txBody>
      </p:sp>
      <p:sp>
        <p:nvSpPr>
          <p:cNvPr id="8" name="Text 6"/>
          <p:cNvSpPr/>
          <p:nvPr/>
        </p:nvSpPr>
        <p:spPr>
          <a:xfrm>
            <a:off x="777240" y="2834640"/>
            <a:ext cx="3063240" cy="2651760"/>
          </a:xfrm>
          <a:prstGeom prst="rect">
            <a:avLst/>
          </a:prstGeom>
          <a:noFill/>
          <a:ln/>
        </p:spPr>
        <p:txBody>
          <a:bodyPr wrap="square" rtlCol="0" anchor="ctr"/>
          <a:lstStyle/>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Reconcile the 275 negative-stock SKUs against a physical count</a:t>
            </a:r>
            <a:endParaRPr lang="en-US" sz="1050" dirty="0"/>
          </a:p>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Confirm whether the August dip is a data cut-off or a real trend</a:t>
            </a:r>
            <a:endParaRPr lang="en-US" sz="1050" dirty="0"/>
          </a:p>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Apply the outstanding unapplied payments (AR ₦200 / AP 206.30M) to their invoices</a:t>
            </a:r>
            <a:endParaRPr lang="en-US" sz="1050" dirty="0"/>
          </a:p>
        </p:txBody>
      </p:sp>
      <p:sp>
        <p:nvSpPr>
          <p:cNvPr id="9" name="Shape 7"/>
          <p:cNvSpPr/>
          <p:nvPr/>
        </p:nvSpPr>
        <p:spPr>
          <a:xfrm>
            <a:off x="4251960" y="1600200"/>
            <a:ext cx="3520440" cy="4114800"/>
          </a:xfrm>
          <a:prstGeom prst="roundRect">
            <a:avLst>
              <a:gd name="adj" fmla="val 2078"/>
            </a:avLst>
          </a:prstGeom>
          <a:solidFill>
            <a:srgbClr val="F7F6FC"/>
          </a:solidFill>
          <a:ln w="12700">
            <a:solidFill>
              <a:srgbClr val="E1DEF2"/>
            </a:solidFill>
            <a:prstDash val="solid"/>
          </a:ln>
        </p:spPr>
      </p:sp>
      <p:sp>
        <p:nvSpPr>
          <p:cNvPr id="10" name="Shape 8"/>
          <p:cNvSpPr/>
          <p:nvPr/>
        </p:nvSpPr>
        <p:spPr>
          <a:xfrm>
            <a:off x="4480560" y="1828800"/>
            <a:ext cx="1051560" cy="329184"/>
          </a:xfrm>
          <a:prstGeom prst="roundRect">
            <a:avLst>
              <a:gd name="adj" fmla="val 50000"/>
            </a:avLst>
          </a:prstGeom>
          <a:solidFill>
            <a:srgbClr val="8B7FD6"/>
          </a:solidFill>
          <a:ln/>
        </p:spPr>
      </p:sp>
      <p:sp>
        <p:nvSpPr>
          <p:cNvPr id="11" name="Text 9"/>
          <p:cNvSpPr/>
          <p:nvPr/>
        </p:nvSpPr>
        <p:spPr>
          <a:xfrm>
            <a:off x="4480560" y="1828800"/>
            <a:ext cx="105156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NEXT</a:t>
            </a:r>
            <a:endParaRPr lang="en-US" sz="950" dirty="0"/>
          </a:p>
        </p:txBody>
      </p:sp>
      <p:sp>
        <p:nvSpPr>
          <p:cNvPr id="12" name="Text 10"/>
          <p:cNvSpPr/>
          <p:nvPr/>
        </p:nvSpPr>
        <p:spPr>
          <a:xfrm>
            <a:off x="4480560" y="2286000"/>
            <a:ext cx="3063240" cy="457200"/>
          </a:xfrm>
          <a:prstGeom prst="rect">
            <a:avLst/>
          </a:prstGeom>
          <a:noFill/>
          <a:ln/>
        </p:spPr>
        <p:txBody>
          <a:bodyPr wrap="square" rtlCol="0" anchor="ctr"/>
          <a:lstStyle/>
          <a:p>
            <a:pPr indent="0" marL="0">
              <a:buNone/>
            </a:pPr>
            <a:r>
              <a:rPr lang="en-US" sz="1550" b="1" dirty="0">
                <a:solidFill>
                  <a:srgbClr val="26203D"/>
                </a:solidFill>
                <a:latin typeface="Century Gothic" pitchFamily="34" charset="0"/>
                <a:ea typeface="Century Gothic" pitchFamily="34" charset="-122"/>
                <a:cs typeface="Century Gothic" pitchFamily="34" charset="-120"/>
              </a:rPr>
              <a:t>Act on what the data shows</a:t>
            </a:r>
            <a:endParaRPr lang="en-US" sz="1550" dirty="0"/>
          </a:p>
        </p:txBody>
      </p:sp>
      <p:sp>
        <p:nvSpPr>
          <p:cNvPr id="13" name="Text 11"/>
          <p:cNvSpPr/>
          <p:nvPr/>
        </p:nvSpPr>
        <p:spPr>
          <a:xfrm>
            <a:off x="4480560" y="2834640"/>
            <a:ext cx="3063240" cy="2651760"/>
          </a:xfrm>
          <a:prstGeom prst="rect">
            <a:avLst/>
          </a:prstGeom>
          <a:noFill/>
          <a:ln/>
        </p:spPr>
        <p:txBody>
          <a:bodyPr wrap="square" rtlCol="0" anchor="ctr"/>
          <a:lstStyle/>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Audit Store_04's return process and roll out any fix chain-wide</a:t>
            </a:r>
            <a:endParaRPr lang="en-US" sz="1050" dirty="0"/>
          </a:p>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Run a clearance promotion on the slowest-moving inventory</a:t>
            </a:r>
            <a:endParaRPr lang="en-US" sz="1050" dirty="0"/>
          </a:p>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Settle VEN_C17A4E444851's balance ahead of its due date</a:t>
            </a:r>
            <a:endParaRPr lang="en-US" sz="1050" dirty="0"/>
          </a:p>
        </p:txBody>
      </p:sp>
      <p:sp>
        <p:nvSpPr>
          <p:cNvPr id="14" name="Shape 12"/>
          <p:cNvSpPr/>
          <p:nvPr/>
        </p:nvSpPr>
        <p:spPr>
          <a:xfrm>
            <a:off x="7955280" y="1600200"/>
            <a:ext cx="3520440" cy="4114800"/>
          </a:xfrm>
          <a:prstGeom prst="roundRect">
            <a:avLst>
              <a:gd name="adj" fmla="val 2078"/>
            </a:avLst>
          </a:prstGeom>
          <a:solidFill>
            <a:srgbClr val="F7F6FC"/>
          </a:solidFill>
          <a:ln w="12700">
            <a:solidFill>
              <a:srgbClr val="E1DEF2"/>
            </a:solidFill>
            <a:prstDash val="solid"/>
          </a:ln>
        </p:spPr>
      </p:sp>
      <p:sp>
        <p:nvSpPr>
          <p:cNvPr id="15" name="Shape 13"/>
          <p:cNvSpPr/>
          <p:nvPr/>
        </p:nvSpPr>
        <p:spPr>
          <a:xfrm>
            <a:off x="8183880" y="1828800"/>
            <a:ext cx="1051560" cy="329184"/>
          </a:xfrm>
          <a:prstGeom prst="roundRect">
            <a:avLst>
              <a:gd name="adj" fmla="val 50000"/>
            </a:avLst>
          </a:prstGeom>
          <a:solidFill>
            <a:srgbClr val="8B7FD6"/>
          </a:solidFill>
          <a:ln/>
        </p:spPr>
      </p:sp>
      <p:sp>
        <p:nvSpPr>
          <p:cNvPr id="16" name="Text 14"/>
          <p:cNvSpPr/>
          <p:nvPr/>
        </p:nvSpPr>
        <p:spPr>
          <a:xfrm>
            <a:off x="8183880" y="1828800"/>
            <a:ext cx="105156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ONGOING</a:t>
            </a:r>
            <a:endParaRPr lang="en-US" sz="950" dirty="0"/>
          </a:p>
        </p:txBody>
      </p:sp>
      <p:sp>
        <p:nvSpPr>
          <p:cNvPr id="17" name="Text 15"/>
          <p:cNvSpPr/>
          <p:nvPr/>
        </p:nvSpPr>
        <p:spPr>
          <a:xfrm>
            <a:off x="8183880" y="2286000"/>
            <a:ext cx="3063240" cy="457200"/>
          </a:xfrm>
          <a:prstGeom prst="rect">
            <a:avLst/>
          </a:prstGeom>
          <a:noFill/>
          <a:ln/>
        </p:spPr>
        <p:txBody>
          <a:bodyPr wrap="square" rtlCol="0" anchor="ctr"/>
          <a:lstStyle/>
          <a:p>
            <a:pPr indent="0" marL="0">
              <a:buNone/>
            </a:pPr>
            <a:r>
              <a:rPr lang="en-US" sz="1550" b="1" dirty="0">
                <a:solidFill>
                  <a:srgbClr val="26203D"/>
                </a:solidFill>
                <a:latin typeface="Century Gothic" pitchFamily="34" charset="0"/>
                <a:ea typeface="Century Gothic" pitchFamily="34" charset="-122"/>
                <a:cs typeface="Century Gothic" pitchFamily="34" charset="-120"/>
              </a:rPr>
              <a:t>Build the habit</a:t>
            </a:r>
            <a:endParaRPr lang="en-US" sz="1550" dirty="0"/>
          </a:p>
        </p:txBody>
      </p:sp>
      <p:sp>
        <p:nvSpPr>
          <p:cNvPr id="18" name="Text 16"/>
          <p:cNvSpPr/>
          <p:nvPr/>
        </p:nvSpPr>
        <p:spPr>
          <a:xfrm>
            <a:off x="8183880" y="2834640"/>
            <a:ext cx="3063240" cy="2651760"/>
          </a:xfrm>
          <a:prstGeom prst="rect">
            <a:avLst/>
          </a:prstGeom>
          <a:noFill/>
          <a:ln/>
        </p:spPr>
        <p:txBody>
          <a:bodyPr wrap="square" rtlCol="0" anchor="ctr"/>
          <a:lstStyle/>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Review this dashboard monthly against the same 4 pages</a:t>
            </a:r>
            <a:endParaRPr lang="en-US" sz="1050" dirty="0"/>
          </a:p>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Track return rate and weeks-of-supply as standing KPIs, not one-off checks</a:t>
            </a:r>
            <a:endParaRPr lang="en-US" sz="1050" dirty="0"/>
          </a:p>
          <a:p>
            <a:pPr marL="342900" indent="-342900">
              <a:lnSpc>
                <a:spcPct val="125000"/>
              </a:lnSpc>
              <a:spcAft>
                <a:spcPts val="1000"/>
              </a:spcAft>
              <a:buSzPct val="100000"/>
              <a:buChar char="•"/>
            </a:pPr>
            <a:r>
              <a:rPr lang="en-US" sz="1050" dirty="0">
                <a:solidFill>
                  <a:srgbClr val="5B5470"/>
                </a:solidFill>
                <a:latin typeface="Calibri" pitchFamily="34" charset="0"/>
                <a:ea typeface="Calibri" pitchFamily="34" charset="-122"/>
                <a:cs typeface="Calibri" pitchFamily="34" charset="-120"/>
              </a:rPr>
              <a:t>Extend the model with a rolling 12-month view once more history accumulates</a:t>
            </a:r>
            <a:endParaRPr lang="en-US" sz="1050" dirty="0"/>
          </a:p>
        </p:txBody>
      </p:sp>
      <p:sp>
        <p:nvSpPr>
          <p:cNvPr id="19"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4A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41B3D"/>
        </a:solidFill>
      </p:bgPr>
    </p:bg>
    <p:spTree>
      <p:nvGrpSpPr>
        <p:cNvPr id="1" name=""/>
        <p:cNvGrpSpPr/>
        <p:nvPr/>
      </p:nvGrpSpPr>
      <p:grpSpPr>
        <a:xfrm>
          <a:off x="0" y="0"/>
          <a:ext cx="0" cy="0"/>
          <a:chOff x="0" y="0"/>
          <a:chExt cx="0" cy="0"/>
        </a:xfrm>
      </p:grpSpPr>
      <p:sp>
        <p:nvSpPr>
          <p:cNvPr id="2" name="Text 0"/>
          <p:cNvSpPr/>
          <p:nvPr/>
        </p:nvSpPr>
        <p:spPr>
          <a:xfrm>
            <a:off x="731520" y="1280160"/>
            <a:ext cx="5486400" cy="365760"/>
          </a:xfrm>
          <a:prstGeom prst="rect">
            <a:avLst/>
          </a:prstGeom>
          <a:noFill/>
          <a:ln/>
        </p:spPr>
        <p:txBody>
          <a:bodyPr wrap="square" rtlCol="0" anchor="ctr"/>
          <a:lstStyle/>
          <a:p>
            <a:pPr indent="0" marL="0">
              <a:buNone/>
            </a:pPr>
            <a:r>
              <a:rPr lang="en-US" sz="1300" b="1" spc="300" kern="0" dirty="0">
                <a:solidFill>
                  <a:srgbClr val="8B7FD6"/>
                </a:solidFill>
                <a:latin typeface="Calibri" pitchFamily="34" charset="0"/>
                <a:ea typeface="Calibri" pitchFamily="34" charset="-122"/>
                <a:cs typeface="Calibri" pitchFamily="34" charset="-120"/>
              </a:rPr>
              <a:t>PROJECT SUMMARY</a:t>
            </a:r>
            <a:endParaRPr lang="en-US" sz="1300" dirty="0"/>
          </a:p>
        </p:txBody>
      </p:sp>
      <p:sp>
        <p:nvSpPr>
          <p:cNvPr id="3" name="Text 1"/>
          <p:cNvSpPr/>
          <p:nvPr/>
        </p:nvSpPr>
        <p:spPr>
          <a:xfrm>
            <a:off x="731520" y="1691640"/>
            <a:ext cx="7772400" cy="1554480"/>
          </a:xfrm>
          <a:prstGeom prst="rect">
            <a:avLst/>
          </a:prstGeom>
          <a:noFill/>
          <a:ln/>
        </p:spPr>
        <p:txBody>
          <a:bodyPr wrap="square" rtlCol="0" anchor="ctr"/>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One workbook. Four connected views.</a:t>
            </a:r>
            <a:endParaRPr lang="en-US" sz="2800" dirty="0"/>
          </a:p>
          <a:p>
            <a:pPr indent="0" marL="0">
              <a:buNone/>
            </a:pPr>
            <a:r>
              <a:rPr lang="en-US" sz="2800" b="1" dirty="0">
                <a:solidFill>
                  <a:srgbClr val="FFFFFF"/>
                </a:solidFill>
                <a:latin typeface="Century Gothic" pitchFamily="34" charset="0"/>
                <a:ea typeface="Century Gothic" pitchFamily="34" charset="-122"/>
                <a:cs typeface="Century Gothic" pitchFamily="34" charset="-120"/>
              </a:rPr>
              <a:t>A business finally able to see itself.</a:t>
            </a:r>
            <a:endParaRPr lang="en-US" sz="2800" dirty="0"/>
          </a:p>
        </p:txBody>
      </p:sp>
      <p:sp>
        <p:nvSpPr>
          <p:cNvPr id="4" name="Text 2"/>
          <p:cNvSpPr/>
          <p:nvPr/>
        </p:nvSpPr>
        <p:spPr>
          <a:xfrm>
            <a:off x="731520" y="3246120"/>
            <a:ext cx="6949440" cy="914400"/>
          </a:xfrm>
          <a:prstGeom prst="rect">
            <a:avLst/>
          </a:prstGeom>
          <a:noFill/>
          <a:ln/>
        </p:spPr>
        <p:txBody>
          <a:bodyPr wrap="square" rtlCol="0" anchor="ctr"/>
          <a:lstStyle/>
          <a:p>
            <a:pPr indent="0" marL="0">
              <a:lnSpc>
                <a:spcPct val="125000"/>
              </a:lnSpc>
              <a:buNone/>
            </a:pPr>
            <a:r>
              <a:rPr lang="en-US" sz="1250" dirty="0">
                <a:solidFill>
                  <a:srgbClr val="C9C3EA"/>
                </a:solidFill>
                <a:latin typeface="Calibri" pitchFamily="34" charset="0"/>
                <a:ea typeface="Calibri" pitchFamily="34" charset="-122"/>
                <a:cs typeface="Calibri" pitchFamily="34" charset="-120"/>
              </a:rPr>
              <a:t>This project took two disconnected exports — GoFrugal POS and Zoho accounting — and turned them into a single Power BI model spanning sales, inventory, receivables and payables, with clean DAX measures and a consistent design across all four pages.</a:t>
            </a:r>
            <a:endParaRPr lang="en-US" sz="1250" dirty="0"/>
          </a:p>
        </p:txBody>
      </p:sp>
      <p:sp>
        <p:nvSpPr>
          <p:cNvPr id="5" name="Text 3"/>
          <p:cNvSpPr/>
          <p:nvPr/>
        </p:nvSpPr>
        <p:spPr>
          <a:xfrm>
            <a:off x="731520" y="4343400"/>
            <a:ext cx="4572000" cy="320040"/>
          </a:xfrm>
          <a:prstGeom prst="rect">
            <a:avLst/>
          </a:prstGeom>
          <a:noFill/>
          <a:ln/>
        </p:spPr>
        <p:txBody>
          <a:bodyPr wrap="square"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Skills demonstrated</a:t>
            </a:r>
            <a:endParaRPr lang="en-US" sz="1350" dirty="0"/>
          </a:p>
        </p:txBody>
      </p:sp>
      <p:sp>
        <p:nvSpPr>
          <p:cNvPr id="6" name="Shape 4"/>
          <p:cNvSpPr/>
          <p:nvPr/>
        </p:nvSpPr>
        <p:spPr>
          <a:xfrm>
            <a:off x="731520" y="4754880"/>
            <a:ext cx="146304" cy="146304"/>
          </a:xfrm>
          <a:prstGeom prst="roundRect">
            <a:avLst>
              <a:gd name="adj" fmla="val 18750"/>
            </a:avLst>
          </a:prstGeom>
          <a:solidFill>
            <a:srgbClr val="8B7FD6"/>
          </a:solidFill>
          <a:ln/>
        </p:spPr>
      </p:sp>
      <p:sp>
        <p:nvSpPr>
          <p:cNvPr id="7" name="Text 5"/>
          <p:cNvSpPr/>
          <p:nvPr/>
        </p:nvSpPr>
        <p:spPr>
          <a:xfrm>
            <a:off x="1005840" y="4663440"/>
            <a:ext cx="3200400" cy="320040"/>
          </a:xfrm>
          <a:prstGeom prst="rect">
            <a:avLst/>
          </a:prstGeom>
          <a:noFill/>
          <a:ln/>
        </p:spPr>
        <p:txBody>
          <a:bodyPr wrap="square" rtlCol="0" anchor="ctr"/>
          <a:lstStyle/>
          <a:p>
            <a:pPr indent="0" marL="0">
              <a:buNone/>
            </a:pPr>
            <a:r>
              <a:rPr lang="en-US" sz="1100" dirty="0">
                <a:solidFill>
                  <a:srgbClr val="D6D2EE"/>
                </a:solidFill>
                <a:latin typeface="Calibri" pitchFamily="34" charset="0"/>
                <a:ea typeface="Calibri" pitchFamily="34" charset="-122"/>
                <a:cs typeface="Calibri" pitchFamily="34" charset="-120"/>
              </a:rPr>
              <a:t>Power Query data cleaning</a:t>
            </a:r>
            <a:endParaRPr lang="en-US" sz="1100" dirty="0"/>
          </a:p>
        </p:txBody>
      </p:sp>
      <p:sp>
        <p:nvSpPr>
          <p:cNvPr id="8" name="Shape 6"/>
          <p:cNvSpPr/>
          <p:nvPr/>
        </p:nvSpPr>
        <p:spPr>
          <a:xfrm>
            <a:off x="4297680" y="4754880"/>
            <a:ext cx="146304" cy="146304"/>
          </a:xfrm>
          <a:prstGeom prst="roundRect">
            <a:avLst>
              <a:gd name="adj" fmla="val 18750"/>
            </a:avLst>
          </a:prstGeom>
          <a:solidFill>
            <a:srgbClr val="8B7FD6"/>
          </a:solidFill>
          <a:ln/>
        </p:spPr>
      </p:sp>
      <p:sp>
        <p:nvSpPr>
          <p:cNvPr id="9" name="Text 7"/>
          <p:cNvSpPr/>
          <p:nvPr/>
        </p:nvSpPr>
        <p:spPr>
          <a:xfrm>
            <a:off x="4572000" y="4663440"/>
            <a:ext cx="3200400" cy="320040"/>
          </a:xfrm>
          <a:prstGeom prst="rect">
            <a:avLst/>
          </a:prstGeom>
          <a:noFill/>
          <a:ln/>
        </p:spPr>
        <p:txBody>
          <a:bodyPr wrap="square" rtlCol="0" anchor="ctr"/>
          <a:lstStyle/>
          <a:p>
            <a:pPr indent="0" marL="0">
              <a:buNone/>
            </a:pPr>
            <a:r>
              <a:rPr lang="en-US" sz="1100" dirty="0">
                <a:solidFill>
                  <a:srgbClr val="D6D2EE"/>
                </a:solidFill>
                <a:latin typeface="Calibri" pitchFamily="34" charset="0"/>
                <a:ea typeface="Calibri" pitchFamily="34" charset="-122"/>
                <a:cs typeface="Calibri" pitchFamily="34" charset="-120"/>
              </a:rPr>
              <a:t>Star-schema data modeling</a:t>
            </a:r>
            <a:endParaRPr lang="en-US" sz="1100" dirty="0"/>
          </a:p>
        </p:txBody>
      </p:sp>
      <p:sp>
        <p:nvSpPr>
          <p:cNvPr id="10" name="Shape 8"/>
          <p:cNvSpPr/>
          <p:nvPr/>
        </p:nvSpPr>
        <p:spPr>
          <a:xfrm>
            <a:off x="731520" y="5212080"/>
            <a:ext cx="146304" cy="146304"/>
          </a:xfrm>
          <a:prstGeom prst="roundRect">
            <a:avLst>
              <a:gd name="adj" fmla="val 18750"/>
            </a:avLst>
          </a:prstGeom>
          <a:solidFill>
            <a:srgbClr val="8B7FD6"/>
          </a:solidFill>
          <a:ln/>
        </p:spPr>
      </p:sp>
      <p:sp>
        <p:nvSpPr>
          <p:cNvPr id="11" name="Text 9"/>
          <p:cNvSpPr/>
          <p:nvPr/>
        </p:nvSpPr>
        <p:spPr>
          <a:xfrm>
            <a:off x="1005840" y="5120640"/>
            <a:ext cx="3200400" cy="320040"/>
          </a:xfrm>
          <a:prstGeom prst="rect">
            <a:avLst/>
          </a:prstGeom>
          <a:noFill/>
          <a:ln/>
        </p:spPr>
        <p:txBody>
          <a:bodyPr wrap="square" rtlCol="0" anchor="ctr"/>
          <a:lstStyle/>
          <a:p>
            <a:pPr indent="0" marL="0">
              <a:buNone/>
            </a:pPr>
            <a:r>
              <a:rPr lang="en-US" sz="1100" dirty="0">
                <a:solidFill>
                  <a:srgbClr val="D6D2EE"/>
                </a:solidFill>
                <a:latin typeface="Calibri" pitchFamily="34" charset="0"/>
                <a:ea typeface="Calibri" pitchFamily="34" charset="-122"/>
                <a:cs typeface="Calibri" pitchFamily="34" charset="-120"/>
              </a:rPr>
              <a:t>DAX measure design</a:t>
            </a:r>
            <a:endParaRPr lang="en-US" sz="1100" dirty="0"/>
          </a:p>
        </p:txBody>
      </p:sp>
      <p:sp>
        <p:nvSpPr>
          <p:cNvPr id="12" name="Shape 10"/>
          <p:cNvSpPr/>
          <p:nvPr/>
        </p:nvSpPr>
        <p:spPr>
          <a:xfrm>
            <a:off x="4297680" y="5212080"/>
            <a:ext cx="146304" cy="146304"/>
          </a:xfrm>
          <a:prstGeom prst="roundRect">
            <a:avLst>
              <a:gd name="adj" fmla="val 18750"/>
            </a:avLst>
          </a:prstGeom>
          <a:solidFill>
            <a:srgbClr val="8B7FD6"/>
          </a:solidFill>
          <a:ln/>
        </p:spPr>
      </p:sp>
      <p:sp>
        <p:nvSpPr>
          <p:cNvPr id="13" name="Text 11"/>
          <p:cNvSpPr/>
          <p:nvPr/>
        </p:nvSpPr>
        <p:spPr>
          <a:xfrm>
            <a:off x="4572000" y="5120640"/>
            <a:ext cx="3200400" cy="320040"/>
          </a:xfrm>
          <a:prstGeom prst="rect">
            <a:avLst/>
          </a:prstGeom>
          <a:noFill/>
          <a:ln/>
        </p:spPr>
        <p:txBody>
          <a:bodyPr wrap="square" rtlCol="0" anchor="ctr"/>
          <a:lstStyle/>
          <a:p>
            <a:pPr indent="0" marL="0">
              <a:buNone/>
            </a:pPr>
            <a:r>
              <a:rPr lang="en-US" sz="1100" dirty="0">
                <a:solidFill>
                  <a:srgbClr val="D6D2EE"/>
                </a:solidFill>
                <a:latin typeface="Calibri" pitchFamily="34" charset="0"/>
                <a:ea typeface="Calibri" pitchFamily="34" charset="-122"/>
                <a:cs typeface="Calibri" pitchFamily="34" charset="-120"/>
              </a:rPr>
              <a:t>Multi-page Power BI report build</a:t>
            </a:r>
            <a:endParaRPr lang="en-US" sz="1100" dirty="0"/>
          </a:p>
        </p:txBody>
      </p:sp>
      <p:sp>
        <p:nvSpPr>
          <p:cNvPr id="14" name="Shape 12"/>
          <p:cNvSpPr/>
          <p:nvPr/>
        </p:nvSpPr>
        <p:spPr>
          <a:xfrm>
            <a:off x="731520" y="5669280"/>
            <a:ext cx="146304" cy="146304"/>
          </a:xfrm>
          <a:prstGeom prst="roundRect">
            <a:avLst>
              <a:gd name="adj" fmla="val 18750"/>
            </a:avLst>
          </a:prstGeom>
          <a:solidFill>
            <a:srgbClr val="8B7FD6"/>
          </a:solidFill>
          <a:ln/>
        </p:spPr>
      </p:sp>
      <p:sp>
        <p:nvSpPr>
          <p:cNvPr id="15" name="Text 13"/>
          <p:cNvSpPr/>
          <p:nvPr/>
        </p:nvSpPr>
        <p:spPr>
          <a:xfrm>
            <a:off x="1005840" y="5577840"/>
            <a:ext cx="3200400" cy="320040"/>
          </a:xfrm>
          <a:prstGeom prst="rect">
            <a:avLst/>
          </a:prstGeom>
          <a:noFill/>
          <a:ln/>
        </p:spPr>
        <p:txBody>
          <a:bodyPr wrap="square" rtlCol="0" anchor="ctr"/>
          <a:lstStyle/>
          <a:p>
            <a:pPr indent="0" marL="0">
              <a:buNone/>
            </a:pPr>
            <a:r>
              <a:rPr lang="en-US" sz="1100" dirty="0">
                <a:solidFill>
                  <a:srgbClr val="D6D2EE"/>
                </a:solidFill>
                <a:latin typeface="Calibri" pitchFamily="34" charset="0"/>
                <a:ea typeface="Calibri" pitchFamily="34" charset="-122"/>
                <a:cs typeface="Calibri" pitchFamily="34" charset="-120"/>
              </a:rPr>
              <a:t>Business-focused insight writing</a:t>
            </a:r>
            <a:endParaRPr lang="en-US" sz="1100" dirty="0"/>
          </a:p>
        </p:txBody>
      </p:sp>
      <p:sp>
        <p:nvSpPr>
          <p:cNvPr id="16" name="Shape 14"/>
          <p:cNvSpPr/>
          <p:nvPr/>
        </p:nvSpPr>
        <p:spPr>
          <a:xfrm>
            <a:off x="4297680" y="5669280"/>
            <a:ext cx="146304" cy="146304"/>
          </a:xfrm>
          <a:prstGeom prst="roundRect">
            <a:avLst>
              <a:gd name="adj" fmla="val 18750"/>
            </a:avLst>
          </a:prstGeom>
          <a:solidFill>
            <a:srgbClr val="8B7FD6"/>
          </a:solidFill>
          <a:ln/>
        </p:spPr>
      </p:sp>
      <p:sp>
        <p:nvSpPr>
          <p:cNvPr id="17" name="Text 15"/>
          <p:cNvSpPr/>
          <p:nvPr/>
        </p:nvSpPr>
        <p:spPr>
          <a:xfrm>
            <a:off x="4572000" y="5577840"/>
            <a:ext cx="3200400" cy="320040"/>
          </a:xfrm>
          <a:prstGeom prst="rect">
            <a:avLst/>
          </a:prstGeom>
          <a:noFill/>
          <a:ln/>
        </p:spPr>
        <p:txBody>
          <a:bodyPr wrap="square" rtlCol="0" anchor="ctr"/>
          <a:lstStyle/>
          <a:p>
            <a:pPr indent="0" marL="0">
              <a:buNone/>
            </a:pPr>
            <a:r>
              <a:rPr lang="en-US" sz="1100" dirty="0">
                <a:solidFill>
                  <a:srgbClr val="D6D2EE"/>
                </a:solidFill>
                <a:latin typeface="Calibri" pitchFamily="34" charset="0"/>
                <a:ea typeface="Calibri" pitchFamily="34" charset="-122"/>
                <a:cs typeface="Calibri" pitchFamily="34" charset="-120"/>
              </a:rPr>
              <a:t>Data-quality diagnosis</a:t>
            </a:r>
            <a:endParaRPr lang="en-US" sz="1100" dirty="0"/>
          </a:p>
        </p:txBody>
      </p:sp>
      <p:sp>
        <p:nvSpPr>
          <p:cNvPr id="18" name="Text 16"/>
          <p:cNvSpPr/>
          <p:nvPr/>
        </p:nvSpPr>
        <p:spPr>
          <a:xfrm>
            <a:off x="731520" y="6309360"/>
            <a:ext cx="7315200" cy="320040"/>
          </a:xfrm>
          <a:prstGeom prst="rect">
            <a:avLst/>
          </a:prstGeom>
          <a:noFill/>
          <a:ln/>
        </p:spPr>
        <p:txBody>
          <a:bodyPr wrap="square" rtlCol="0" anchor="ctr"/>
          <a:lstStyle/>
          <a:p>
            <a:pPr indent="0" marL="0">
              <a:buNone/>
            </a:pPr>
            <a:r>
              <a:rPr lang="en-US" sz="1050" dirty="0">
                <a:solidFill>
                  <a:srgbClr val="8A7FC0"/>
                </a:solidFill>
                <a:latin typeface="Calibri" pitchFamily="34" charset="0"/>
                <a:ea typeface="Calibri" pitchFamily="34" charset="-122"/>
                <a:cs typeface="Calibri" pitchFamily="34" charset="-120"/>
              </a:rPr>
              <a:t>Ogwa Nkemnasom  ·  Data Analyst  ·  christabelogwa1@gmail.com</a:t>
            </a:r>
            <a:endParaRPr lang="en-US" sz="1050" dirty="0"/>
          </a:p>
        </p:txBody>
      </p:sp>
      <p:sp>
        <p:nvSpPr>
          <p:cNvPr id="19" name="Shape 17"/>
          <p:cNvSpPr/>
          <p:nvPr/>
        </p:nvSpPr>
        <p:spPr>
          <a:xfrm>
            <a:off x="8869680" y="2926080"/>
            <a:ext cx="1737360" cy="256032"/>
          </a:xfrm>
          <a:prstGeom prst="rect">
            <a:avLst/>
          </a:prstGeom>
          <a:solidFill>
            <a:srgbClr val="8B7FD6"/>
          </a:solidFill>
          <a:ln/>
        </p:spPr>
      </p:sp>
      <p:sp>
        <p:nvSpPr>
          <p:cNvPr id="20" name="Shape 18"/>
          <p:cNvSpPr/>
          <p:nvPr/>
        </p:nvSpPr>
        <p:spPr>
          <a:xfrm>
            <a:off x="8869680" y="3291840"/>
            <a:ext cx="2377440" cy="256032"/>
          </a:xfrm>
          <a:prstGeom prst="rect">
            <a:avLst/>
          </a:prstGeom>
          <a:solidFill>
            <a:srgbClr val="8B7FD6"/>
          </a:solidFill>
          <a:ln/>
        </p:spPr>
      </p:sp>
      <p:sp>
        <p:nvSpPr>
          <p:cNvPr id="21" name="Shape 19"/>
          <p:cNvSpPr/>
          <p:nvPr/>
        </p:nvSpPr>
        <p:spPr>
          <a:xfrm>
            <a:off x="8869680" y="3657600"/>
            <a:ext cx="3383280" cy="256032"/>
          </a:xfrm>
          <a:prstGeom prst="rect">
            <a:avLst/>
          </a:prstGeom>
          <a:solidFill>
            <a:srgbClr val="8B7FD6"/>
          </a:solidFill>
          <a:ln/>
        </p:spPr>
      </p:sp>
      <p:sp>
        <p:nvSpPr>
          <p:cNvPr id="22" name="Shape 20"/>
          <p:cNvSpPr/>
          <p:nvPr/>
        </p:nvSpPr>
        <p:spPr>
          <a:xfrm>
            <a:off x="8869680" y="4023360"/>
            <a:ext cx="4206240" cy="256032"/>
          </a:xfrm>
          <a:prstGeom prst="rect">
            <a:avLst/>
          </a:prstGeom>
          <a:solidFill>
            <a:srgbClr val="8B7FD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2026-08-17T20:20:35Z</dcterms:created>
  <dcterms:modified xsi:type="dcterms:W3CDTF">2026-08-17T20:20:35Z</dcterms:modified>
</cp:coreProperties>
</file>